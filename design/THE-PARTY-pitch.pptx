
<file path=[Content_Types].xml><?xml version="1.0" encoding="utf-8"?>
<Types xmlns="http://schemas.openxmlformats.org/package/2006/content-types">
  <Default Extension="jpeg" ContentType="image/jpeg"/>
  <Default Extension="mp4" ContentType="video/mp4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docProps/custom.xml" ContentType="application/vnd.openxmlformats-officedocument.custom-properties+xml"/>
  <Override PartName="/ppt/notesMasters/notesMaster1.xml" ContentType="application/vnd.openxmlformats-officedocument.presentationml.notesMaster+xml"/>
  <Override PartName="/ppt/notesSlides/notesSlide1.xml" ContentType="application/vnd.openxmlformats-officedocument.presentationml.notesSlide+xml"/>
  <Override PartName="/ppt/notesSlides/notesSlide1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12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theme/theme1.xml" ContentType="application/vnd.openxmlformats-officedocument.theme+xml"/>
  <Override PartName="/ppt/theme/theme2.xml" ContentType="application/vnd.openxmlformats-officedocument.theme+xml"/>
</Types>
</file>

<file path=_rels/.rels><?xml version='1.0' encoding='UTF-8' standalone='yes'?>
<Relationships xmlns="http://schemas.openxmlformats.org/package/2006/relationships"><Relationship Id="rId1" Type="http://schemas.openxmlformats.org/package/2006/relationships/metadata/core-properties" Target="docProps/core.xml"/><Relationship Id="rId2" Type="http://schemas.openxmlformats.org/officeDocument/2006/relationships/extended-properties" Target="docProps/app.xml"/><Relationship Id="rId3" Type="http://schemas.openxmlformats.org/officeDocument/2006/relationships/custom-properties" Target="docProps/custom.xml"/><Relationship Id="rId4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sldMasterIdLst>
    <p:sldMasterId id="2147483648" r:id="rId2"/>
  </p:sldMasterIdLst>
  <p:notesMasterIdLst>
    <p:notesMasterId r:id="rId3"/>
  </p:notesMasterIdLst>
  <p:sldIdLst>
    <p:sldId id="256" r:id="rId4"/>
    <p:sldId id="257" r:id="rId5"/>
    <p:sldId id="258" r:id="rId6"/>
    <p:sldId id="259" r:id="rId7"/>
    <p:sldId id="260" r:id="rId8"/>
    <p:sldId id="261" r:id="rId9"/>
    <p:sldId id="262" r:id="rId10"/>
    <p:sldId id="263" r:id="rId11"/>
    <p:sldId id="264" r:id="rId12"/>
    <p:sldId id="265" r:id="rId13"/>
    <p:sldId id="266" r:id="rId14"/>
    <p:sldId id="267" r:id="rId15"/>
    <p:sldId id="268" r:id="rId16"/>
    <p:sldId id="269" r:id="rId17"/>
  </p:sldIdLst>
  <p:sldSz cx="12192000" cy="6858000"/>
  <p:notesSz cx="6858000" cy="12192000"/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showPr showNarration="1"/>
</p:presentation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theme" Target="theme/theme1.xml"/><Relationship Id="rId2" Type="http://schemas.openxmlformats.org/officeDocument/2006/relationships/slideMaster" Target="slideMasters/slideMaster1.xml"/><Relationship Id="rId3" Type="http://schemas.openxmlformats.org/officeDocument/2006/relationships/notesMaster" Target="notesMasters/notesMaster1.xml"/><Relationship Id="rId4" Type="http://schemas.openxmlformats.org/officeDocument/2006/relationships/slide" Target="slides/slide1.xml"/><Relationship Id="rId5" Type="http://schemas.openxmlformats.org/officeDocument/2006/relationships/slide" Target="slides/slide2.xml"/><Relationship Id="rId6" Type="http://schemas.openxmlformats.org/officeDocument/2006/relationships/slide" Target="slides/slide3.xml"/><Relationship Id="rId7" Type="http://schemas.openxmlformats.org/officeDocument/2006/relationships/slide" Target="slides/slide4.xml"/><Relationship Id="rId8" Type="http://schemas.openxmlformats.org/officeDocument/2006/relationships/slide" Target="slides/slide5.xml"/><Relationship Id="rId9" Type="http://schemas.openxmlformats.org/officeDocument/2006/relationships/slide" Target="slides/slide6.xml"/><Relationship Id="rId10" Type="http://schemas.openxmlformats.org/officeDocument/2006/relationships/slide" Target="slides/slide7.xml"/><Relationship Id="rId11" Type="http://schemas.openxmlformats.org/officeDocument/2006/relationships/slide" Target="slides/slide8.xml"/><Relationship Id="rId12" Type="http://schemas.openxmlformats.org/officeDocument/2006/relationships/slide" Target="slides/slide9.xml"/><Relationship Id="rId13" Type="http://schemas.openxmlformats.org/officeDocument/2006/relationships/slide" Target="slides/slide10.xml"/><Relationship Id="rId14" Type="http://schemas.openxmlformats.org/officeDocument/2006/relationships/slide" Target="slides/slide11.xml"/><Relationship Id="rId15" Type="http://schemas.openxmlformats.org/officeDocument/2006/relationships/slide" Target="slides/slide12.xml"/><Relationship Id="rId16" Type="http://schemas.openxmlformats.org/officeDocument/2006/relationships/slide" Target="slides/slide13.xml"/><Relationship Id="rId17" Type="http://schemas.openxmlformats.org/officeDocument/2006/relationships/slide" Target="slides/slide14.xml"/><Relationship Id="rId18" Type="http://schemas.openxmlformats.org/officeDocument/2006/relationships/presProps" Target="presProps.xml"/></Relationships>
</file>

<file path=ppt/notesMasters/_rels/notes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8" name="PlaceHolder 1"/>
          <p:cNvSpPr>
            <a:spLocks noGrp="1"/>
          </p:cNvSpPr>
          <p:nvPr>
            <p:ph type="sldImg"/>
          </p:nvPr>
        </p:nvSpPr>
        <p:spPr>
          <a:xfrm>
            <a:off x="216000" y="812520"/>
            <a:ext cx="7127280" cy="400896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i</a:t>
            </a:r>
            <a:r>
              <a:rPr b="0" lang="pt-BR" sz="4400" spc="-1" strike="noStrike">
                <a:latin typeface="Arial"/>
              </a:rPr>
              <a:t>c</a:t>
            </a:r>
            <a:r>
              <a:rPr b="0" lang="pt-BR" sz="4400" spc="-1" strike="noStrike">
                <a:latin typeface="Arial"/>
              </a:rPr>
              <a:t>k</a:t>
            </a:r>
            <a:r>
              <a:rPr b="0" lang="pt-BR" sz="4400" spc="-1" strike="noStrike">
                <a:latin typeface="Arial"/>
              </a:rPr>
              <a:t>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 </a:t>
            </a:r>
            <a:r>
              <a:rPr b="0" lang="pt-BR" sz="4400" spc="-1" strike="noStrike">
                <a:latin typeface="Arial"/>
              </a:rPr>
              <a:t>m</a:t>
            </a:r>
            <a:r>
              <a:rPr b="0" lang="pt-BR" sz="4400" spc="-1" strike="noStrike">
                <a:latin typeface="Arial"/>
              </a:rPr>
              <a:t>o</a:t>
            </a:r>
            <a:r>
              <a:rPr b="0" lang="pt-BR" sz="4400" spc="-1" strike="noStrike">
                <a:latin typeface="Arial"/>
              </a:rPr>
              <a:t>v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 </a:t>
            </a:r>
            <a:r>
              <a:rPr b="0" lang="pt-BR" sz="4400" spc="-1" strike="noStrike">
                <a:latin typeface="Arial"/>
              </a:rPr>
              <a:t>t</a:t>
            </a:r>
            <a:r>
              <a:rPr b="0" lang="pt-BR" sz="4400" spc="-1" strike="noStrike">
                <a:latin typeface="Arial"/>
              </a:rPr>
              <a:t>h</a:t>
            </a:r>
            <a:r>
              <a:rPr b="0" lang="pt-BR" sz="4400" spc="-1" strike="noStrike">
                <a:latin typeface="Arial"/>
              </a:rPr>
              <a:t>e</a:t>
            </a:r>
            <a:r>
              <a:rPr b="0" lang="pt-BR" sz="4400" spc="-1" strike="noStrike">
                <a:latin typeface="Arial"/>
              </a:rPr>
              <a:t> </a:t>
            </a:r>
            <a:r>
              <a:rPr b="0" lang="pt-BR" sz="4400" spc="-1" strike="noStrike">
                <a:latin typeface="Arial"/>
              </a:rPr>
              <a:t>s</a:t>
            </a:r>
            <a:r>
              <a:rPr b="0" lang="pt-BR" sz="4400" spc="-1" strike="noStrike">
                <a:latin typeface="Arial"/>
              </a:rPr>
              <a:t>l</a:t>
            </a:r>
            <a:r>
              <a:rPr b="0" lang="pt-BR" sz="4400" spc="-1" strike="noStrike">
                <a:latin typeface="Arial"/>
              </a:rPr>
              <a:t>i</a:t>
            </a:r>
            <a:r>
              <a:rPr b="0" lang="pt-BR" sz="4400" spc="-1" strike="noStrike">
                <a:latin typeface="Arial"/>
              </a:rPr>
              <a:t>d</a:t>
            </a:r>
            <a:r>
              <a:rPr b="0" lang="pt-BR" sz="4400" spc="-1" strike="noStrike">
                <a:latin typeface="Arial"/>
              </a:rPr>
              <a:t>e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39" name="PlaceHolder 2"/>
          <p:cNvSpPr>
            <a:spLocks noGrp="1"/>
          </p:cNvSpPr>
          <p:nvPr>
            <p:ph type="body"/>
          </p:nvPr>
        </p:nvSpPr>
        <p:spPr>
          <a:xfrm>
            <a:off x="756000" y="5078520"/>
            <a:ext cx="6047640" cy="4811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2000" spc="-1" strike="noStrike">
                <a:latin typeface="Arial"/>
              </a:rPr>
              <a:t>C</a:t>
            </a:r>
            <a:r>
              <a:rPr b="0" lang="pt-BR" sz="2000" spc="-1" strike="noStrike">
                <a:latin typeface="Arial"/>
              </a:rPr>
              <a:t>l</a:t>
            </a:r>
            <a:r>
              <a:rPr b="0" lang="pt-BR" sz="2000" spc="-1" strike="noStrike">
                <a:latin typeface="Arial"/>
              </a:rPr>
              <a:t>i</a:t>
            </a:r>
            <a:r>
              <a:rPr b="0" lang="pt-BR" sz="2000" spc="-1" strike="noStrike">
                <a:latin typeface="Arial"/>
              </a:rPr>
              <a:t>c</a:t>
            </a:r>
            <a:r>
              <a:rPr b="0" lang="pt-BR" sz="2000" spc="-1" strike="noStrike">
                <a:latin typeface="Arial"/>
              </a:rPr>
              <a:t>k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t</a:t>
            </a:r>
            <a:r>
              <a:rPr b="0" lang="pt-BR" sz="2000" spc="-1" strike="noStrike">
                <a:latin typeface="Arial"/>
              </a:rPr>
              <a:t>o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e</a:t>
            </a:r>
            <a:r>
              <a:rPr b="0" lang="pt-BR" sz="2000" spc="-1" strike="noStrike">
                <a:latin typeface="Arial"/>
              </a:rPr>
              <a:t>d</a:t>
            </a:r>
            <a:r>
              <a:rPr b="0" lang="pt-BR" sz="2000" spc="-1" strike="noStrike">
                <a:latin typeface="Arial"/>
              </a:rPr>
              <a:t>i</a:t>
            </a:r>
            <a:r>
              <a:rPr b="0" lang="pt-BR" sz="2000" spc="-1" strike="noStrike">
                <a:latin typeface="Arial"/>
              </a:rPr>
              <a:t>t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t</a:t>
            </a:r>
            <a:r>
              <a:rPr b="0" lang="pt-BR" sz="2000" spc="-1" strike="noStrike">
                <a:latin typeface="Arial"/>
              </a:rPr>
              <a:t>h</a:t>
            </a:r>
            <a:r>
              <a:rPr b="0" lang="pt-BR" sz="2000" spc="-1" strike="noStrike">
                <a:latin typeface="Arial"/>
              </a:rPr>
              <a:t>e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n</a:t>
            </a:r>
            <a:r>
              <a:rPr b="0" lang="pt-BR" sz="2000" spc="-1" strike="noStrike">
                <a:latin typeface="Arial"/>
              </a:rPr>
              <a:t>o</a:t>
            </a:r>
            <a:r>
              <a:rPr b="0" lang="pt-BR" sz="2000" spc="-1" strike="noStrike">
                <a:latin typeface="Arial"/>
              </a:rPr>
              <a:t>t</a:t>
            </a:r>
            <a:r>
              <a:rPr b="0" lang="pt-BR" sz="2000" spc="-1" strike="noStrike">
                <a:latin typeface="Arial"/>
              </a:rPr>
              <a:t>e</a:t>
            </a:r>
            <a:r>
              <a:rPr b="0" lang="pt-BR" sz="2000" spc="-1" strike="noStrike">
                <a:latin typeface="Arial"/>
              </a:rPr>
              <a:t>s</a:t>
            </a:r>
            <a:r>
              <a:rPr b="0" lang="pt-BR" sz="2000" spc="-1" strike="noStrike">
                <a:latin typeface="Arial"/>
              </a:rPr>
              <a:t> </a:t>
            </a:r>
            <a:r>
              <a:rPr b="0" lang="pt-BR" sz="2000" spc="-1" strike="noStrike">
                <a:latin typeface="Arial"/>
              </a:rPr>
              <a:t>f</a:t>
            </a:r>
            <a:r>
              <a:rPr b="0" lang="pt-BR" sz="2000" spc="-1" strike="noStrike">
                <a:latin typeface="Arial"/>
              </a:rPr>
              <a:t>o</a:t>
            </a:r>
            <a:r>
              <a:rPr b="0" lang="pt-BR" sz="2000" spc="-1" strike="noStrike">
                <a:latin typeface="Arial"/>
              </a:rPr>
              <a:t>r</a:t>
            </a:r>
            <a:r>
              <a:rPr b="0" lang="pt-BR" sz="2000" spc="-1" strike="noStrike">
                <a:latin typeface="Arial"/>
              </a:rPr>
              <a:t>m</a:t>
            </a:r>
            <a:r>
              <a:rPr b="0" lang="pt-BR" sz="2000" spc="-1" strike="noStrike">
                <a:latin typeface="Arial"/>
              </a:rPr>
              <a:t>a</a:t>
            </a:r>
            <a:r>
              <a:rPr b="0" lang="pt-BR" sz="2000" spc="-1" strike="noStrike">
                <a:latin typeface="Arial"/>
              </a:rPr>
              <a:t>t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40" name="PlaceHolder 3"/>
          <p:cNvSpPr>
            <a:spLocks noGrp="1"/>
          </p:cNvSpPr>
          <p:nvPr>
            <p:ph type="hdr"/>
          </p:nvPr>
        </p:nvSpPr>
        <p:spPr>
          <a:xfrm>
            <a:off x="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r>
              <a:rPr b="0" lang="pt-BR" sz="1400" spc="-1" strike="noStrike">
                <a:latin typeface="Times New Roman"/>
              </a:rPr>
              <a:t>&lt;header&gt;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1" name="PlaceHolder 4"/>
          <p:cNvSpPr>
            <a:spLocks noGrp="1"/>
          </p:cNvSpPr>
          <p:nvPr>
            <p:ph type="dt" idx="1"/>
          </p:nvPr>
        </p:nvSpPr>
        <p:spPr>
          <a:xfrm>
            <a:off x="4278960" y="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r>
              <a:rPr b="0" lang="pt-BR" sz="1400" spc="-1" strike="noStrike">
                <a:latin typeface="Times New Roman"/>
              </a:rPr>
              <a:t>&lt;date/time&gt;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2" name="PlaceHolder 5"/>
          <p:cNvSpPr>
            <a:spLocks noGrp="1"/>
          </p:cNvSpPr>
          <p:nvPr>
            <p:ph type="ftr" idx="2"/>
          </p:nvPr>
        </p:nvSpPr>
        <p:spPr>
          <a:xfrm>
            <a:off x="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>
              <a:defRPr b="0" lang="pt-BR" sz="1400" spc="-1" strike="noStrike">
                <a:latin typeface="Times New Roman"/>
              </a:defRPr>
            </a:lvl1pPr>
          </a:lstStyle>
          <a:p>
            <a:r>
              <a:rPr b="0" lang="pt-BR" sz="1400" spc="-1" strike="noStrike">
                <a:latin typeface="Times New Roman"/>
              </a:rPr>
              <a:t>&lt;footer&gt;</a:t>
            </a:r>
            <a:endParaRPr b="0" lang="pt-BR" sz="1400" spc="-1" strike="noStrike">
              <a:latin typeface="Times New Roman"/>
            </a:endParaRPr>
          </a:p>
        </p:txBody>
      </p:sp>
      <p:sp>
        <p:nvSpPr>
          <p:cNvPr id="43" name="PlaceHolder 6"/>
          <p:cNvSpPr>
            <a:spLocks noGrp="1"/>
          </p:cNvSpPr>
          <p:nvPr>
            <p:ph type="sldNum" idx="3"/>
          </p:nvPr>
        </p:nvSpPr>
        <p:spPr>
          <a:xfrm>
            <a:off x="4278960" y="10157400"/>
            <a:ext cx="3280680" cy="5342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buNone/>
              <a:defRPr b="0" lang="pt-BR" sz="1400" spc="-1" strike="noStrike">
                <a:latin typeface="Times New Roman"/>
              </a:defRPr>
            </a:lvl1pPr>
          </a:lstStyle>
          <a:p>
            <a:pPr algn="r">
              <a:buNone/>
            </a:pPr>
            <a:fld id="{5D5B4F27-4FF8-40B1-BF28-8366CBA4AD3E}" type="slidenum">
              <a:rPr b="0" lang="pt-BR" sz="1400" spc="-1" strike="noStrike">
                <a:latin typeface="Times New Roman"/>
              </a:rPr>
              <a:t>&lt;number&gt;</a:t>
            </a:fld>
            <a:endParaRPr b="0" lang="pt-BR" sz="1400" spc="-1" strike="noStrike">
              <a:latin typeface="Times New Roman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</p:notesMaster>
</file>

<file path=ppt/notesSlides/_rels/notesSlide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.xml"/><Relationship Id="rId2" Type="http://schemas.openxmlformats.org/officeDocument/2006/relationships/notesMaster" Target="../notesMasters/notesMaster1.xml"/></Relationships>
</file>

<file path=ppt/notesSlides/_rels/notesSlide2.xml.rels><?xml version='1.0' encoding='UTF-8' standalone='yes'?>
<Relationships xmlns="http://schemas.openxmlformats.org/package/2006/relationships"><Relationship Id="rId1" Type="http://schemas.openxmlformats.org/officeDocument/2006/relationships/slide" Target="../slides/slide2.xml"/><Relationship Id="rId2" Type="http://schemas.openxmlformats.org/officeDocument/2006/relationships/notesMaster" Target="../notesMasters/notesMaster1.xml"/></Relationships>
</file>

<file path=ppt/notesSlides/_rels/notesSlide3.xml.rels><?xml version='1.0' encoding='UTF-8' standalone='yes'?>
<Relationships xmlns="http://schemas.openxmlformats.org/package/2006/relationships"><Relationship Id="rId1" Type="http://schemas.openxmlformats.org/officeDocument/2006/relationships/slide" Target="../slides/slide3.xml"/><Relationship Id="rId2" Type="http://schemas.openxmlformats.org/officeDocument/2006/relationships/notesMaster" Target="../notesMasters/notesMaster1.xml"/></Relationships>
</file>

<file path=ppt/notesSlides/_rels/notesSlide4.xml.rels><?xml version='1.0' encoding='UTF-8' standalone='yes'?>
<Relationships xmlns="http://schemas.openxmlformats.org/package/2006/relationships"><Relationship Id="rId1" Type="http://schemas.openxmlformats.org/officeDocument/2006/relationships/slide" Target="../slides/slide4.xml"/><Relationship Id="rId2" Type="http://schemas.openxmlformats.org/officeDocument/2006/relationships/notesMaster" Target="../notesMasters/notesMaster1.xml"/></Relationships>
</file>

<file path=ppt/notesSlides/_rels/notesSlide6.xml.rels><?xml version='1.0' encoding='UTF-8' standalone='yes'?>
<Relationships xmlns="http://schemas.openxmlformats.org/package/2006/relationships"><Relationship Id="rId1" Type="http://schemas.openxmlformats.org/officeDocument/2006/relationships/slide" Target="../slides/slide6.xml"/><Relationship Id="rId2" Type="http://schemas.openxmlformats.org/officeDocument/2006/relationships/notesMaster" Target="../notesMasters/notesMaster1.xml"/></Relationships>
</file>

<file path=ppt/notesSlides/_rels/notesSlide7.xml.rels><?xml version='1.0' encoding='UTF-8' standalone='yes'?>
<Relationships xmlns="http://schemas.openxmlformats.org/package/2006/relationships"><Relationship Id="rId1" Type="http://schemas.openxmlformats.org/officeDocument/2006/relationships/slide" Target="../slides/slide7.xml"/><Relationship Id="rId2" Type="http://schemas.openxmlformats.org/officeDocument/2006/relationships/notesMaster" Target="../notesMasters/notesMaster1.xml"/></Relationships>
</file>

<file path=ppt/notesSlides/_rels/notesSlide8.xml.rels><?xml version='1.0' encoding='UTF-8' standalone='yes'?>
<Relationships xmlns="http://schemas.openxmlformats.org/package/2006/relationships"><Relationship Id="rId1" Type="http://schemas.openxmlformats.org/officeDocument/2006/relationships/slide" Target="../slides/slide8.xml"/><Relationship Id="rId2" Type="http://schemas.openxmlformats.org/officeDocument/2006/relationships/notesMaster" Target="../notesMasters/notesMaster1.xml"/></Relationships>
</file>

<file path=ppt/notesSlides/_rels/notesSlide9.xml.rels><?xml version='1.0' encoding='UTF-8' standalone='yes'?>
<Relationships xmlns="http://schemas.openxmlformats.org/package/2006/relationships"><Relationship Id="rId1" Type="http://schemas.openxmlformats.org/officeDocument/2006/relationships/slide" Target="../slides/slide9.xml"/><Relationship Id="rId2" Type="http://schemas.openxmlformats.org/officeDocument/2006/relationships/notesMaster" Target="../notesMasters/notesMaster1.xml"/></Relationships>
</file>

<file path=ppt/notesSlides/_rels/notesSlide11.xml.rels><?xml version='1.0' encoding='UTF-8' standalone='yes'?>
<Relationships xmlns="http://schemas.openxmlformats.org/package/2006/relationships"><Relationship Id="rId1" Type="http://schemas.openxmlformats.org/officeDocument/2006/relationships/slide" Target="../slides/slide11.xml"/><Relationship Id="rId2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1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262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Dizer a tagline em voz alta e deixar dois segundos de silêncio antes de passar.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63" name="PlaceHolder 3"/>
          <p:cNvSpPr>
            <a:spLocks noGrp="1"/>
          </p:cNvSpPr>
          <p:nvPr>
            <p:ph type="sldNum" idx="4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185CDAC-7E0A-46DA-9BE1-AC39031F2F74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2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4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265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266" name="PlaceHolder 3"/>
          <p:cNvSpPr>
            <a:spLocks noGrp="1"/>
          </p:cNvSpPr>
          <p:nvPr>
            <p:ph type="sldNum" idx="5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037CCC6-837E-4EB3-B3C0-D25E2C42A47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3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7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268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269" name="PlaceHolder 3"/>
          <p:cNvSpPr>
            <a:spLocks noGrp="1"/>
          </p:cNvSpPr>
          <p:nvPr>
            <p:ph type="sldNum" idx="6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F0C3DB82-6824-4C7D-9770-1359696A4CD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4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0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271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272" name="PlaceHolder 3"/>
          <p:cNvSpPr>
            <a:spLocks noGrp="1"/>
          </p:cNvSpPr>
          <p:nvPr>
            <p:ph type="sldNum" idx="7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F9E5325-730A-4858-9233-84D7109CC2A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6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3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274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275" name="PlaceHolder 3"/>
          <p:cNvSpPr>
            <a:spLocks noGrp="1"/>
          </p:cNvSpPr>
          <p:nvPr>
            <p:ph type="sldNum" idx="8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9993C70-1AEB-4876-97BD-822C7F3BAF37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7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6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277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Se der para mostrar o jogo rodando ao vivo, é esta a tela que se mostra.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78" name="PlaceHolder 3"/>
          <p:cNvSpPr>
            <a:spLocks noGrp="1"/>
          </p:cNvSpPr>
          <p:nvPr>
            <p:ph type="sldNum" idx="9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303DBA9D-C085-4BF6-97F3-4254BD61DD3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8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79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280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281" name="PlaceHolder 3"/>
          <p:cNvSpPr>
            <a:spLocks noGrp="1"/>
          </p:cNvSpPr>
          <p:nvPr>
            <p:ph type="sldNum" idx="10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2FCECA06-2C68-41A2-B363-30C21F09709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9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2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283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pPr marL="216000" indent="-216000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2000" spc="-1" strike="noStrike">
                <a:latin typeface="Arial"/>
              </a:rPr>
              <a:t>Se a sala topar, abrir o jogo aqui. Vale mais que o resto do deck inteiro.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284" name="PlaceHolder 3"/>
          <p:cNvSpPr>
            <a:spLocks noGrp="1"/>
          </p:cNvSpPr>
          <p:nvPr>
            <p:ph type="sldNum" idx="11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CCA91D43-8F5C-48FF-A62A-7EF065BED77E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notesSlides/notesSlide11.xml><?xml version="1.0" encoding="utf-8"?>
<p:notes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85" name="PlaceHolder 1"/>
          <p:cNvSpPr>
            <a:spLocks noGrp="1"/>
          </p:cNvSpPr>
          <p:nvPr>
            <p:ph type="sldImg"/>
          </p:nvPr>
        </p:nvSpPr>
        <p:spPr>
          <a:xfrm>
            <a:off x="685800" y="1143000"/>
            <a:ext cx="5482080" cy="3081960"/>
          </a:xfrm>
          <a:prstGeom prst="rect">
            <a:avLst/>
          </a:prstGeom>
          <a:ln w="0">
            <a:noFill/>
          </a:ln>
        </p:spPr>
      </p:sp>
      <p:sp>
        <p:nvSpPr>
          <p:cNvPr id="286" name="PlaceHolder 2"/>
          <p:cNvSpPr>
            <a:spLocks noGrp="1"/>
          </p:cNvSpPr>
          <p:nvPr>
            <p:ph type="body"/>
          </p:nvPr>
        </p:nvSpPr>
        <p:spPr>
          <a:xfrm>
            <a:off x="685800" y="4400640"/>
            <a:ext cx="5482080" cy="35960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Autofit/>
          </a:bodyPr>
          <a:p>
            <a:endParaRPr b="0" lang="pt-BR" sz="2000" spc="-1" strike="noStrike">
              <a:latin typeface="Arial"/>
            </a:endParaRPr>
          </a:p>
        </p:txBody>
      </p:sp>
      <p:sp>
        <p:nvSpPr>
          <p:cNvPr id="287" name="PlaceHolder 3"/>
          <p:cNvSpPr>
            <a:spLocks noGrp="1"/>
          </p:cNvSpPr>
          <p:nvPr>
            <p:ph type="sldNum" idx="12"/>
          </p:nvPr>
        </p:nvSpPr>
        <p:spPr>
          <a:xfrm>
            <a:off x="3884760" y="8685360"/>
            <a:ext cx="2967480" cy="45432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b">
            <a:noAutofit/>
          </a:bodyPr>
          <a:lstStyle>
            <a:lvl1pPr algn="r">
              <a:lnSpc>
                <a:spcPct val="100000"/>
              </a:lnSpc>
              <a:buNone/>
              <a:defRPr b="0" lang="en-US" sz="1200" spc="-1" strike="noStrike">
                <a:solidFill>
                  <a:srgbClr val="000000"/>
                </a:solidFill>
                <a:latin typeface="+mn-lt"/>
                <a:ea typeface="+mn-ea"/>
              </a:defRPr>
            </a:lvl1pPr>
          </a:lstStyle>
          <a:p>
            <a:pPr algn="r">
              <a:lnSpc>
                <a:spcPct val="100000"/>
              </a:lnSpc>
              <a:buNone/>
            </a:pPr>
            <a:fld id="{E3E87B8E-C3A1-48B2-BA54-78C8FAEFC12C}" type="slidenum">
              <a:rPr b="0" lang="en-US" sz="1200" spc="-1" strike="noStrike">
                <a:solidFill>
                  <a:srgbClr val="000000"/>
                </a:solidFill>
                <a:latin typeface="+mn-lt"/>
                <a:ea typeface="+mn-ea"/>
              </a:rPr>
              <a:t>&lt;number&gt;</a:t>
            </a:fld>
            <a:endParaRPr b="0" lang="pt-BR" sz="1200" spc="-1" strike="noStrike">
              <a:latin typeface="Times New Roman"/>
            </a:endParaRPr>
          </a:p>
        </p:txBody>
      </p:sp>
    </p:spTree>
  </p:cSld>
</p:note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Blank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</p:sldLayout>
</file>

<file path=ppt/slideLayouts/slideLayout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x" preserve="1">
  <p:cSld name="Title Slide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" name="PlaceHolder 2"/>
          <p:cNvSpPr>
            <a:spLocks noGrp="1"/>
          </p:cNvSpPr>
          <p:nvPr>
            <p:ph type="subTitle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3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" preserve="1">
  <p:cSld name="Title,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4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5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4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" preserve="1">
  <p:cSld name="Title,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5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</p:spTree>
  </p:cSld>
</p:sldLayout>
</file>

<file path=ppt/slideLayouts/slideLayout6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nly" preserve="1">
  <p:cSld name="Centere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0" name="PlaceHolder 1"/>
          <p:cNvSpPr>
            <a:spLocks noGrp="1"/>
          </p:cNvSpPr>
          <p:nvPr>
            <p:ph type="subTitle"/>
          </p:nvPr>
        </p:nvSpPr>
        <p:spPr>
          <a:xfrm>
            <a:off x="609480" y="273600"/>
            <a:ext cx="10972440" cy="5307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7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AndObj" preserve="1">
  <p:cSld name="Title, 2 Content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3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4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8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AndTwoObj" preserve="1">
  <p:cSld name="Title Content and 2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5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16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7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18" name="PlaceHolder 4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9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twoObjOverTx" preserve="1">
  <p:cSld name="Title, 2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19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0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1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2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0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objOverTx" preserve="1">
  <p:cSld name="Title, Content over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3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4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5" name="PlaceHolder 3"/>
          <p:cNvSpPr>
            <a:spLocks noGrp="1"/>
          </p:cNvSpPr>
          <p:nvPr>
            <p:ph/>
          </p:nvPr>
        </p:nvSpPr>
        <p:spPr>
          <a:xfrm>
            <a:off x="609480" y="3682080"/>
            <a:ext cx="109724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1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fourObj" preserve="1">
  <p:cSld name="Title, 4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6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27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8" name="PlaceHolder 3"/>
          <p:cNvSpPr>
            <a:spLocks noGrp="1"/>
          </p:cNvSpPr>
          <p:nvPr>
            <p:ph/>
          </p:nvPr>
        </p:nvSpPr>
        <p:spPr>
          <a:xfrm>
            <a:off x="6231960" y="160452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29" name="PlaceHolder 4"/>
          <p:cNvSpPr>
            <a:spLocks noGrp="1"/>
          </p:cNvSpPr>
          <p:nvPr>
            <p:ph/>
          </p:nvPr>
        </p:nvSpPr>
        <p:spPr>
          <a:xfrm>
            <a:off x="60948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0" name="PlaceHolder 5"/>
          <p:cNvSpPr>
            <a:spLocks noGrp="1"/>
          </p:cNvSpPr>
          <p:nvPr>
            <p:ph/>
          </p:nvPr>
        </p:nvSpPr>
        <p:spPr>
          <a:xfrm>
            <a:off x="6231960" y="3682080"/>
            <a:ext cx="535428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Layouts/slideLayout12.xml><?xml version="1.0" encoding="utf-8"?>
<p:sldLayout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type="blank" preserve="1">
  <p:cSld name="Title, 6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31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endParaRPr b="0" lang="pt-BR" sz="4400" spc="-1" strike="noStrike">
              <a:latin typeface="Arial"/>
            </a:endParaRPr>
          </a:p>
        </p:txBody>
      </p:sp>
      <p:sp>
        <p:nvSpPr>
          <p:cNvPr id="32" name="PlaceHolder 2"/>
          <p:cNvSpPr>
            <a:spLocks noGrp="1"/>
          </p:cNvSpPr>
          <p:nvPr>
            <p:ph/>
          </p:nvPr>
        </p:nvSpPr>
        <p:spPr>
          <a:xfrm>
            <a:off x="60948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3" name="PlaceHolder 3"/>
          <p:cNvSpPr>
            <a:spLocks noGrp="1"/>
          </p:cNvSpPr>
          <p:nvPr>
            <p:ph/>
          </p:nvPr>
        </p:nvSpPr>
        <p:spPr>
          <a:xfrm>
            <a:off x="431964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4" name="PlaceHolder 4"/>
          <p:cNvSpPr>
            <a:spLocks noGrp="1"/>
          </p:cNvSpPr>
          <p:nvPr>
            <p:ph/>
          </p:nvPr>
        </p:nvSpPr>
        <p:spPr>
          <a:xfrm>
            <a:off x="8029800" y="160452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5" name="PlaceHolder 5"/>
          <p:cNvSpPr>
            <a:spLocks noGrp="1"/>
          </p:cNvSpPr>
          <p:nvPr>
            <p:ph/>
          </p:nvPr>
        </p:nvSpPr>
        <p:spPr>
          <a:xfrm>
            <a:off x="60948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6" name="PlaceHolder 6"/>
          <p:cNvSpPr>
            <a:spLocks noGrp="1"/>
          </p:cNvSpPr>
          <p:nvPr>
            <p:ph/>
          </p:nvPr>
        </p:nvSpPr>
        <p:spPr>
          <a:xfrm>
            <a:off x="431964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  <p:sp>
        <p:nvSpPr>
          <p:cNvPr id="37" name="PlaceHolder 7"/>
          <p:cNvSpPr>
            <a:spLocks noGrp="1"/>
          </p:cNvSpPr>
          <p:nvPr>
            <p:ph/>
          </p:nvPr>
        </p:nvSpPr>
        <p:spPr>
          <a:xfrm>
            <a:off x="8029800" y="3682080"/>
            <a:ext cx="3533040" cy="189684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endParaRPr b="0" lang="pt-BR" sz="3200" spc="-1" strike="noStrike">
              <a:latin typeface="Arial"/>
            </a:endParaRPr>
          </a:p>
        </p:txBody>
      </p:sp>
    </p:spTree>
  </p:cSld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theme" Target="../theme/theme1.xml"/><Relationship Id="rId2" Type="http://schemas.openxmlformats.org/officeDocument/2006/relationships/slideLayout" Target="../slideLayouts/slideLayout1.xml"/><Relationship Id="rId3" Type="http://schemas.openxmlformats.org/officeDocument/2006/relationships/slideLayout" Target="../slideLayouts/slideLayout2.xml"/><Relationship Id="rId4" Type="http://schemas.openxmlformats.org/officeDocument/2006/relationships/slideLayout" Target="../slideLayouts/slideLayout3.xml"/><Relationship Id="rId5" Type="http://schemas.openxmlformats.org/officeDocument/2006/relationships/slideLayout" Target="../slideLayouts/slideLayout4.xml"/><Relationship Id="rId6" Type="http://schemas.openxmlformats.org/officeDocument/2006/relationships/slideLayout" Target="../slideLayouts/slideLayout5.xml"/><Relationship Id="rId7" Type="http://schemas.openxmlformats.org/officeDocument/2006/relationships/slideLayout" Target="../slideLayouts/slideLayout6.xml"/><Relationship Id="rId8" Type="http://schemas.openxmlformats.org/officeDocument/2006/relationships/slideLayout" Target="../slideLayouts/slideLayout7.xml"/><Relationship Id="rId9" Type="http://schemas.openxmlformats.org/officeDocument/2006/relationships/slideLayout" Target="../slideLayouts/slideLayout8.xml"/><Relationship Id="rId10" Type="http://schemas.openxmlformats.org/officeDocument/2006/relationships/slideLayout" Target="../slideLayouts/slideLayout9.xml"/><Relationship Id="rId11" Type="http://schemas.openxmlformats.org/officeDocument/2006/relationships/slideLayout" Target="../slideLayouts/slideLayout10.xml"/><Relationship Id="rId12" Type="http://schemas.openxmlformats.org/officeDocument/2006/relationships/slideLayout" Target="../slideLayouts/slideLayout11.xml"/><Relationship Id="rId13" Type="http://schemas.openxmlformats.org/officeDocument/2006/relationships/slideLayout" Target="../slideLayouts/slideLayout12.xml"/></Relationships>
</file>

<file path=ppt/slideMasters/slideMaster1.xml><?xml version="1.0" encoding="utf-8"?>
<p:sldMaster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fffff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0" name="PlaceHolder 1"/>
          <p:cNvSpPr>
            <a:spLocks noGrp="1"/>
          </p:cNvSpPr>
          <p:nvPr>
            <p:ph type="title"/>
          </p:nvPr>
        </p:nvSpPr>
        <p:spPr>
          <a:xfrm>
            <a:off x="609480" y="273600"/>
            <a:ext cx="10972440" cy="114480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ctr">
            <a:noAutofit/>
          </a:bodyPr>
          <a:p>
            <a:pPr algn="ctr">
              <a:buNone/>
            </a:pPr>
            <a:r>
              <a:rPr b="0" lang="pt-BR" sz="4400" spc="-1" strike="noStrike">
                <a:latin typeface="Arial"/>
              </a:rPr>
              <a:t>Click to edit the title </a:t>
            </a:r>
            <a:r>
              <a:rPr b="0" lang="pt-BR" sz="4400" spc="-1" strike="noStrike">
                <a:latin typeface="Arial"/>
              </a:rPr>
              <a:t>text format</a:t>
            </a:r>
            <a:endParaRPr b="0" lang="pt-BR" sz="4400" spc="-1" strike="noStrike">
              <a:latin typeface="Arial"/>
            </a:endParaRPr>
          </a:p>
        </p:txBody>
      </p:sp>
      <p:sp>
        <p:nvSpPr>
          <p:cNvPr id="1" name="PlaceHolder 2"/>
          <p:cNvSpPr>
            <a:spLocks noGrp="1"/>
          </p:cNvSpPr>
          <p:nvPr>
            <p:ph type="body"/>
          </p:nvPr>
        </p:nvSpPr>
        <p:spPr>
          <a:xfrm>
            <a:off x="609480" y="1604520"/>
            <a:ext cx="10972440" cy="3977280"/>
          </a:xfrm>
          <a:prstGeom prst="rect">
            <a:avLst/>
          </a:prstGeom>
          <a:noFill/>
          <a:ln w="0">
            <a:noFill/>
          </a:ln>
        </p:spPr>
        <p:txBody>
          <a:bodyPr lIns="0" rIns="0" tIns="0" bIns="0" anchor="t">
            <a:normAutofit/>
          </a:bodyPr>
          <a:p>
            <a:pPr marL="432000" indent="-324000">
              <a:spcBef>
                <a:spcPts val="1417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3200" spc="-1" strike="noStrike">
                <a:latin typeface="Arial"/>
              </a:rPr>
              <a:t>Click to edit the outline text format</a:t>
            </a:r>
            <a:endParaRPr b="0" lang="pt-BR" sz="3200" spc="-1" strike="noStrike">
              <a:latin typeface="Arial"/>
            </a:endParaRPr>
          </a:p>
          <a:p>
            <a:pPr lvl="1" marL="864000" indent="-324000">
              <a:spcBef>
                <a:spcPts val="1134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800" spc="-1" strike="noStrike">
                <a:latin typeface="Arial"/>
              </a:rPr>
              <a:t>Second Outline Level</a:t>
            </a:r>
            <a:endParaRPr b="0" lang="pt-BR" sz="2800" spc="-1" strike="noStrike">
              <a:latin typeface="Arial"/>
            </a:endParaRPr>
          </a:p>
          <a:p>
            <a:pPr lvl="2" marL="1296000" indent="-288000">
              <a:spcBef>
                <a:spcPts val="850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400" spc="-1" strike="noStrike">
                <a:latin typeface="Arial"/>
              </a:rPr>
              <a:t>Third Outline Level</a:t>
            </a:r>
            <a:endParaRPr b="0" lang="pt-BR" sz="2400" spc="-1" strike="noStrike">
              <a:latin typeface="Arial"/>
            </a:endParaRPr>
          </a:p>
          <a:p>
            <a:pPr lvl="3" marL="1728000" indent="-216000">
              <a:spcBef>
                <a:spcPts val="567"/>
              </a:spcBef>
              <a:buClr>
                <a:srgbClr val="000000"/>
              </a:buClr>
              <a:buSzPct val="75000"/>
              <a:buFont typeface="Symbol" charset="2"/>
              <a:buChar char=""/>
            </a:pPr>
            <a:r>
              <a:rPr b="0" lang="pt-BR" sz="2000" spc="-1" strike="noStrike">
                <a:latin typeface="Arial"/>
              </a:rPr>
              <a:t>Fourth Outline Level</a:t>
            </a:r>
            <a:endParaRPr b="0" lang="pt-BR" sz="2000" spc="-1" strike="noStrike">
              <a:latin typeface="Arial"/>
            </a:endParaRPr>
          </a:p>
          <a:p>
            <a:pPr lvl="4" marL="2160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Fifth Outline Level</a:t>
            </a:r>
            <a:endParaRPr b="0" lang="pt-BR" sz="2000" spc="-1" strike="noStrike">
              <a:latin typeface="Arial"/>
            </a:endParaRPr>
          </a:p>
          <a:p>
            <a:pPr lvl="5" marL="2592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Sixth Outline Level</a:t>
            </a:r>
            <a:endParaRPr b="0" lang="pt-BR" sz="2000" spc="-1" strike="noStrike">
              <a:latin typeface="Arial"/>
            </a:endParaRPr>
          </a:p>
          <a:p>
            <a:pPr lvl="6" marL="3024000" indent="-216000">
              <a:spcBef>
                <a:spcPts val="283"/>
              </a:spcBef>
              <a:buClr>
                <a:srgbClr val="000000"/>
              </a:buClr>
              <a:buSzPct val="45000"/>
              <a:buFont typeface="Wingdings" charset="2"/>
              <a:buChar char=""/>
            </a:pPr>
            <a:r>
              <a:rPr b="0" lang="pt-BR" sz="2000" spc="-1" strike="noStrike">
                <a:latin typeface="Arial"/>
              </a:rPr>
              <a:t>Seventh Outline Level</a:t>
            </a:r>
            <a:endParaRPr b="0" lang="pt-BR" sz="2000" spc="-1" strike="noStrike">
              <a:latin typeface="Arial"/>
            </a:endParaRPr>
          </a:p>
        </p:txBody>
      </p:sp>
    </p:spTree>
  </p:cSld>
  <p:clrMap bg1="lt1" bg2="lt2" tx1="dk1" tx2="dk2" accent1="accent1" accent2="accent2" accent3="accent3" accent4="accent4" accent5="accent5" accent6="accent6" hlink="hlink" folHlink="folHlink"/>
  <p:sldLayoutIdLst>
    <p:sldLayoutId id="2147483649" r:id="rId2"/>
    <p:sldLayoutId id="2147483650" r:id="rId3"/>
    <p:sldLayoutId id="2147483651" r:id="rId4"/>
    <p:sldLayoutId id="2147483652" r:id="rId5"/>
    <p:sldLayoutId id="2147483653" r:id="rId6"/>
    <p:sldLayoutId id="2147483654" r:id="rId7"/>
    <p:sldLayoutId id="2147483655" r:id="rId8"/>
    <p:sldLayoutId id="2147483656" r:id="rId9"/>
    <p:sldLayoutId id="2147483657" r:id="rId10"/>
    <p:sldLayoutId id="2147483658" r:id="rId11"/>
    <p:sldLayoutId id="2147483659" r:id="rId12"/>
    <p:sldLayoutId id="2147483660" r:id="rId13"/>
  </p:sldLayoutIdLst>
</p:sldMaster>
</file>

<file path=ppt/slides/_rels/slide1.xml.rels><?xml version='1.0' encoding='UTF-8' standalone='yes'?>
<Relationships xmlns="http://schemas.openxmlformats.org/package/2006/relationships"><Relationship Id="rId1" Type="http://schemas.openxmlformats.org/officeDocument/2006/relationships/image" Target="../media/image1.png"/><Relationship Id="rId2" Type="http://schemas.openxmlformats.org/officeDocument/2006/relationships/image" Target="../media/image2.png"/><Relationship Id="rId3" Type="http://schemas.openxmlformats.org/officeDocument/2006/relationships/image" Target="../media/image3.png"/><Relationship Id="rId4" Type="http://schemas.openxmlformats.org/officeDocument/2006/relationships/slideLayout" Target="../slideLayouts/slideLayout1.xml"/><Relationship Id="rId5" Type="http://schemas.openxmlformats.org/officeDocument/2006/relationships/notesSlide" Target="../notesSlides/notesSlide1.xml"/></Relationships>
</file>

<file path=ppt/slides/_rels/slide2.xml.rels><?xml version='1.0' encoding='UTF-8' standalone='yes'?>
<Relationships xmlns="http://schemas.openxmlformats.org/package/2006/relationships"><Relationship Id="rId1" Type="http://schemas.openxmlformats.org/officeDocument/2006/relationships/image" Target="../media/image4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2.xml"/></Relationships>
</file>

<file path=ppt/slides/_rels/slide3.xml.rels><?xml version='1.0' encoding='UTF-8' standalone='yes'?>
<Relationships xmlns="http://schemas.openxmlformats.org/package/2006/relationships"><Relationship Id="rId1" Type="http://schemas.openxmlformats.org/officeDocument/2006/relationships/image" Target="../media/image5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3.xml"/></Relationships>
</file>

<file path=ppt/slides/_rels/slide4.xml.rels><?xml version='1.0' encoding='UTF-8' standalone='yes'?>
<Relationships xmlns="http://schemas.openxmlformats.org/package/2006/relationships"><Relationship Id="rId1" Type="http://schemas.openxmlformats.org/officeDocument/2006/relationships/image" Target="../media/image6.png"/><Relationship Id="rId2" Type="http://schemas.openxmlformats.org/officeDocument/2006/relationships/slideLayout" Target="../slideLayouts/slideLayout1.xml"/><Relationship Id="rId3" Type="http://schemas.openxmlformats.org/officeDocument/2006/relationships/notesSlide" Target="../notesSlides/notesSlide4.xml"/></Relationships>
</file>

<file path=ppt/slides/_rels/slide5.xml.rels><?xml version='1.0' encoding='UTF-8' standalone='yes'?>
<Relationships xmlns="http://schemas.openxmlformats.org/package/2006/relationships"><Relationship Id="rId1" Type="http://schemas.openxmlformats.org/officeDocument/2006/relationships/image" Target="../media/image7.png"/><Relationship Id="rId2" Type="http://schemas.openxmlformats.org/officeDocument/2006/relationships/video" Target="../media/media8.mp4"/><Relationship Id="rId3" Type="http://schemas.microsoft.com/office/2007/relationships/media" Target="../media/media8.mp4"/><Relationship Id="rId4" Type="http://schemas.openxmlformats.org/officeDocument/2006/relationships/image" Target="../media/image9.png"/><Relationship Id="rId5" Type="http://schemas.openxmlformats.org/officeDocument/2006/relationships/slideLayout" Target="../slideLayouts/slideLayout1.xml"/></Relationships>
</file>

<file path=ppt/slides/_rels/slide6.xml.rels><?xml version='1.0' encoding='UTF-8' standalone='yes'?>
<Relationships xmlns="http://schemas.openxmlformats.org/package/2006/relationships"><Relationship Id="rId1" Type="http://schemas.openxmlformats.org/officeDocument/2006/relationships/image" Target="../media/image10.png"/><Relationship Id="rId2" Type="http://schemas.openxmlformats.org/officeDocument/2006/relationships/image" Target="../media/image11.png"/><Relationship Id="rId3" Type="http://schemas.openxmlformats.org/officeDocument/2006/relationships/image" Target="../media/image12.png"/><Relationship Id="rId4" Type="http://schemas.openxmlformats.org/officeDocument/2006/relationships/image" Target="../media/image13.png"/><Relationship Id="rId5" Type="http://schemas.openxmlformats.org/officeDocument/2006/relationships/slideLayout" Target="../slideLayouts/slideLayout1.xml"/><Relationship Id="rId6" Type="http://schemas.openxmlformats.org/officeDocument/2006/relationships/notesSlide" Target="../notesSlides/notesSlide6.xml"/></Relationships>
</file>

<file path=ppt/slides/_rels/slide7.xml.rels><?xml version='1.0' encoding='UTF-8' standalone='yes'?>
<Relationships xmlns="http://schemas.openxmlformats.org/package/2006/relationships"><Relationship Id="rId1" Type="http://schemas.openxmlformats.org/officeDocument/2006/relationships/image" Target="../media/image14.png"/><Relationship Id="rId2" Type="http://schemas.openxmlformats.org/officeDocument/2006/relationships/image" Target="../media/image15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7.xml"/></Relationships>
</file>

<file path=ppt/slides/_rels/slide8.xml.rels><?xml version='1.0' encoding='UTF-8' standalone='yes'?>
<Relationships xmlns="http://schemas.openxmlformats.org/package/2006/relationships"><Relationship Id="rId1" Type="http://schemas.openxmlformats.org/officeDocument/2006/relationships/image" Target="../media/image16.png"/><Relationship Id="rId2" Type="http://schemas.openxmlformats.org/officeDocument/2006/relationships/image" Target="../media/image17.jpe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8.xml"/></Relationships>
</file>

<file path=ppt/slides/_rels/slide9.xml.rels><?xml version='1.0' encoding='UTF-8' standalone='yes'?>
<Relationships xmlns="http://schemas.openxmlformats.org/package/2006/relationships"><Relationship Id="rId1" Type="http://schemas.openxmlformats.org/officeDocument/2006/relationships/image" Target="../media/image18.png"/><Relationship Id="rId2" Type="http://schemas.openxmlformats.org/officeDocument/2006/relationships/image" Target="../media/image19.png"/><Relationship Id="rId3" Type="http://schemas.openxmlformats.org/officeDocument/2006/relationships/slideLayout" Target="../slideLayouts/slideLayout1.xml"/><Relationship Id="rId4" Type="http://schemas.openxmlformats.org/officeDocument/2006/relationships/notesSlide" Target="../notesSlides/notesSlide9.xml"/></Relationships>
</file>

<file path=ppt/slides/_rels/slide10.xml.rels><?xml version='1.0' encoding='UTF-8' standalone='yes'?>
<Relationships xmlns="http://schemas.openxmlformats.org/package/2006/relationships"><Relationship Id="rId1" Type="http://schemas.openxmlformats.org/officeDocument/2006/relationships/image" Target="../media/image20.png"/><Relationship Id="rId2" Type="http://schemas.openxmlformats.org/officeDocument/2006/relationships/slideLayout" Target="../slideLayouts/slideLayout1.xml"/></Relationships>
</file>

<file path=ppt/slides/_rels/slide1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notesSlide" Target="../notesSlides/notesSlide11.xml"/><Relationship Id="rId3" Type="http://schemas.openxmlformats.org/officeDocument/2006/relationships/image" Target="../media/image8.png"/></Relationships>
</file>

<file path=ppt/slides/_rels/slide12.xml.rels><?xml version='1.0' encoding='UTF-8' standalone='yes'?>
<Relationships xmlns="http://schemas.openxmlformats.org/package/2006/relationships"><Relationship Id="rId1" Type="http://schemas.openxmlformats.org/officeDocument/2006/relationships/image" Target="../media/image21.png"/><Relationship Id="rId2" Type="http://schemas.openxmlformats.org/officeDocument/2006/relationships/image" Target="../media/image22.jpeg"/><Relationship Id="rId3" Type="http://schemas.openxmlformats.org/officeDocument/2006/relationships/image" Target="../media/image23.png"/><Relationship Id="rId4" Type="http://schemas.openxmlformats.org/officeDocument/2006/relationships/slideLayout" Target="../slideLayouts/slideLayout1.xml"/></Relationships>
</file>

<file path=ppt/slides/_rels/slide13.xml.rels><?xml version='1.0' encoding='UTF-8' standalone='yes'?>
<Relationships xmlns="http://schemas.openxmlformats.org/package/2006/relationships"><Relationship Id="rId1" Type="http://schemas.openxmlformats.org/officeDocument/2006/relationships/image" Target="../media/image24.png"/><Relationship Id="rId2" Type="http://schemas.openxmlformats.org/officeDocument/2006/relationships/image" Target="../media/image25.jpeg"/><Relationship Id="rId3" Type="http://schemas.openxmlformats.org/officeDocument/2006/relationships/slideLayout" Target="../slideLayouts/slideLayout1.xml"/></Relationships>
</file>

<file path=ppt/slides/_rels/slide14.xml.rels><?xml version='1.0' encoding='UTF-8' standalone='yes'?>
<Relationships xmlns="http://schemas.openxmlformats.org/package/2006/relationships"><Relationship Id="rId1" Type="http://schemas.openxmlformats.org/officeDocument/2006/relationships/image" Target="../media/image26.jpeg"/><Relationship Id="rId2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4" name="" descr=""/>
          <p:cNvPicPr/>
          <p:nvPr/>
        </p:nvPicPr>
        <p:blipFill>
          <a:blip r:embed="rId1"/>
          <a:stretch/>
        </p:blipFill>
        <p:spPr>
          <a:xfrm>
            <a:off x="-4320" y="-252000"/>
            <a:ext cx="12189240" cy="5815080"/>
          </a:xfrm>
          <a:prstGeom prst="rect">
            <a:avLst/>
          </a:prstGeom>
          <a:ln w="0">
            <a:noFill/>
          </a:ln>
        </p:spPr>
      </p:pic>
      <p:sp>
        <p:nvSpPr>
          <p:cNvPr id="45" name="Shape 0"/>
          <p:cNvSpPr/>
          <p:nvPr/>
        </p:nvSpPr>
        <p:spPr>
          <a:xfrm>
            <a:off x="0" y="4873680"/>
            <a:ext cx="12157200" cy="1980000"/>
          </a:xfrm>
          <a:prstGeom prst="rect">
            <a:avLst/>
          </a:prstGeom>
          <a:solidFill>
            <a:srgbClr val="07070f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pic>
        <p:nvPicPr>
          <p:cNvPr id="46" name="Image 1" descr="/tmp/claude-1000/-home-cmoryah-proj-the-party/20f7a24e-b8f2-4fc7-8068-208b8ed78fb2/scratchpad/shots/ttl-party.png"/>
          <p:cNvPicPr/>
          <p:nvPr/>
        </p:nvPicPr>
        <p:blipFill>
          <a:blip r:embed="rId2"/>
          <a:stretch/>
        </p:blipFill>
        <p:spPr>
          <a:xfrm>
            <a:off x="4604760" y="4846320"/>
            <a:ext cx="2947320" cy="1047240"/>
          </a:xfrm>
          <a:prstGeom prst="rect">
            <a:avLst/>
          </a:prstGeom>
          <a:ln w="0">
            <a:noFill/>
          </a:ln>
        </p:spPr>
      </p:pic>
      <p:sp>
        <p:nvSpPr>
          <p:cNvPr id="47" name="Text 1"/>
          <p:cNvSpPr/>
          <p:nvPr/>
        </p:nvSpPr>
        <p:spPr>
          <a:xfrm>
            <a:off x="0" y="5852160"/>
            <a:ext cx="1215720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600" spc="-1" strike="noStrike">
                <a:solidFill>
                  <a:srgbClr val="e10600"/>
                </a:solidFill>
                <a:latin typeface="Calibri"/>
                <a:ea typeface="Calibri"/>
              </a:rPr>
              <a:t>Pegue as dicas, evite as crianças. Encontre a festa, se você sobreviver.</a:t>
            </a:r>
            <a:endParaRPr b="0" lang="pt-BR" sz="1600" spc="-1" strike="noStrike">
              <a:latin typeface="Arial"/>
            </a:endParaRPr>
          </a:p>
        </p:txBody>
      </p:sp>
      <p:pic>
        <p:nvPicPr>
          <p:cNvPr id="48" name="Image 2" descr="/tmp/claude-1000/-home-cmoryah-proj-the-party/20f7a24e-b8f2-4fc7-8068-208b8ed78fb2/scratchpad/shots/saborosa.png"/>
          <p:cNvPicPr/>
          <p:nvPr/>
        </p:nvPicPr>
        <p:blipFill>
          <a:blip r:embed="rId3"/>
          <a:stretch/>
        </p:blipFill>
        <p:spPr>
          <a:xfrm>
            <a:off x="9900000" y="225000"/>
            <a:ext cx="2098800" cy="491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49" name="Image 0" descr="/tmp/claude-1000/-home-cmoryah-proj-the-party/20f7a24e-b8f2-4fc7-8068-208b8ed78fb2/scratchpad/shots/ttl-ficha.png"/>
          <p:cNvPicPr/>
          <p:nvPr/>
        </p:nvPicPr>
        <p:blipFill>
          <a:blip r:embed="rId1"/>
          <a:stretch/>
        </p:blipFill>
        <p:spPr>
          <a:xfrm>
            <a:off x="640080" y="295920"/>
            <a:ext cx="2787840" cy="966960"/>
          </a:xfrm>
          <a:prstGeom prst="rect">
            <a:avLst/>
          </a:prstGeom>
          <a:ln w="0">
            <a:noFill/>
          </a:ln>
        </p:spPr>
      </p:pic>
      <p:sp>
        <p:nvSpPr>
          <p:cNvPr id="50" name="Text 2"/>
          <p:cNvSpPr/>
          <p:nvPr/>
        </p:nvSpPr>
        <p:spPr>
          <a:xfrm>
            <a:off x="640080" y="1783080"/>
            <a:ext cx="2190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66" strike="noStrike">
                <a:solidFill>
                  <a:srgbClr val="e10600"/>
                </a:solidFill>
                <a:latin typeface="Calibri"/>
                <a:ea typeface="Calibri"/>
              </a:rPr>
              <a:t>GÊNERO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51" name="Text 3"/>
          <p:cNvSpPr/>
          <p:nvPr/>
        </p:nvSpPr>
        <p:spPr>
          <a:xfrm>
            <a:off x="2926080" y="1783080"/>
            <a:ext cx="4476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4f1ea"/>
                </a:solidFill>
                <a:latin typeface="Calibri"/>
                <a:ea typeface="Calibri"/>
              </a:rPr>
              <a:t>Caça ao tesouro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2" name="Text 4"/>
          <p:cNvSpPr/>
          <p:nvPr/>
        </p:nvSpPr>
        <p:spPr>
          <a:xfrm>
            <a:off x="640080" y="2496240"/>
            <a:ext cx="2190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66" strike="noStrike">
                <a:solidFill>
                  <a:srgbClr val="e10600"/>
                </a:solidFill>
                <a:latin typeface="Calibri"/>
                <a:ea typeface="Calibri"/>
              </a:rPr>
              <a:t>DURAÇÃO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53" name="Text 5"/>
          <p:cNvSpPr/>
          <p:nvPr/>
        </p:nvSpPr>
        <p:spPr>
          <a:xfrm>
            <a:off x="2926080" y="2496240"/>
            <a:ext cx="4476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4f1ea"/>
                </a:solidFill>
                <a:latin typeface="Calibri"/>
                <a:ea typeface="Calibri"/>
              </a:rPr>
              <a:t>6 minutos por partida. Uma noite, da meia-noite às 6h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4" name="Text 6"/>
          <p:cNvSpPr/>
          <p:nvPr/>
        </p:nvSpPr>
        <p:spPr>
          <a:xfrm>
            <a:off x="640080" y="3209400"/>
            <a:ext cx="2190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66" strike="noStrike">
                <a:solidFill>
                  <a:srgbClr val="e10600"/>
                </a:solidFill>
                <a:latin typeface="Calibri"/>
                <a:ea typeface="Calibri"/>
              </a:rPr>
              <a:t>PLATAFORMAS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55" name="Text 7"/>
          <p:cNvSpPr/>
          <p:nvPr/>
        </p:nvSpPr>
        <p:spPr>
          <a:xfrm>
            <a:off x="2926080" y="3209400"/>
            <a:ext cx="4476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4f1ea"/>
                </a:solidFill>
                <a:latin typeface="Calibri"/>
                <a:ea typeface="Calibri"/>
              </a:rPr>
              <a:t>PC (Steam) e navegador (itch.io)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6" name="Text 8"/>
          <p:cNvSpPr/>
          <p:nvPr/>
        </p:nvSpPr>
        <p:spPr>
          <a:xfrm>
            <a:off x="640080" y="3922920"/>
            <a:ext cx="2190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66" strike="noStrike">
                <a:solidFill>
                  <a:srgbClr val="e10600"/>
                </a:solidFill>
                <a:latin typeface="Calibri"/>
                <a:ea typeface="Calibri"/>
              </a:rPr>
              <a:t>IDIOMA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57" name="Text 9"/>
          <p:cNvSpPr/>
          <p:nvPr/>
        </p:nvSpPr>
        <p:spPr>
          <a:xfrm>
            <a:off x="2926080" y="3922920"/>
            <a:ext cx="4476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4f1ea"/>
                </a:solidFill>
                <a:latin typeface="Calibri"/>
                <a:ea typeface="Calibri"/>
              </a:rPr>
              <a:t>Inglês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58" name="Text 10"/>
          <p:cNvSpPr/>
          <p:nvPr/>
        </p:nvSpPr>
        <p:spPr>
          <a:xfrm>
            <a:off x="640080" y="4636080"/>
            <a:ext cx="2190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66" strike="noStrike">
                <a:solidFill>
                  <a:srgbClr val="e10600"/>
                </a:solidFill>
                <a:latin typeface="Calibri"/>
                <a:ea typeface="Calibri"/>
              </a:rPr>
              <a:t>PÚBLICO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59" name="Text 11"/>
          <p:cNvSpPr/>
          <p:nvPr/>
        </p:nvSpPr>
        <p:spPr>
          <a:xfrm>
            <a:off x="2926080" y="4636080"/>
            <a:ext cx="4476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4f1ea"/>
                </a:solidFill>
                <a:latin typeface="Calibri"/>
                <a:ea typeface="Calibri"/>
              </a:rPr>
              <a:t>10+ · casual · sessões curtas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60" name="Text 12"/>
          <p:cNvSpPr/>
          <p:nvPr/>
        </p:nvSpPr>
        <p:spPr>
          <a:xfrm>
            <a:off x="640080" y="5349240"/>
            <a:ext cx="2190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66" strike="noStrike">
                <a:solidFill>
                  <a:srgbClr val="e10600"/>
                </a:solidFill>
                <a:latin typeface="Calibri"/>
                <a:ea typeface="Calibri"/>
              </a:rPr>
              <a:t>PREÇO SUGERIDO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61" name="Text 13"/>
          <p:cNvSpPr/>
          <p:nvPr/>
        </p:nvSpPr>
        <p:spPr>
          <a:xfrm>
            <a:off x="2926080" y="5349240"/>
            <a:ext cx="4476240" cy="361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500" spc="-1" strike="noStrike">
                <a:solidFill>
                  <a:srgbClr val="f4f1ea"/>
                </a:solidFill>
                <a:latin typeface="Calibri"/>
                <a:ea typeface="Calibri"/>
              </a:rPr>
              <a:t>US$ 6,99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62" name="Text 15"/>
          <p:cNvSpPr/>
          <p:nvPr/>
        </p:nvSpPr>
        <p:spPr>
          <a:xfrm>
            <a:off x="8411400" y="1828800"/>
            <a:ext cx="310464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100" spc="180" strike="noStrike">
                <a:solidFill>
                  <a:srgbClr val="e10600"/>
                </a:solidFill>
                <a:latin typeface="Calibri"/>
                <a:ea typeface="Calibri"/>
              </a:rPr>
              <a:t>CRÉDITOS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63" name="Text 16"/>
          <p:cNvSpPr/>
          <p:nvPr/>
        </p:nvSpPr>
        <p:spPr>
          <a:xfrm>
            <a:off x="8411400" y="2331720"/>
            <a:ext cx="3104640" cy="3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Christian Miranda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4" name="Text 17"/>
          <p:cNvSpPr/>
          <p:nvPr/>
        </p:nvSpPr>
        <p:spPr>
          <a:xfrm>
            <a:off x="8411400" y="2660760"/>
            <a:ext cx="310464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fa0b8"/>
                </a:solidFill>
                <a:latin typeface="Calibri"/>
                <a:ea typeface="Calibri"/>
              </a:rPr>
              <a:t>programação e game design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65" name="Text 18"/>
          <p:cNvSpPr/>
          <p:nvPr/>
        </p:nvSpPr>
        <p:spPr>
          <a:xfrm>
            <a:off x="8411400" y="3291840"/>
            <a:ext cx="3104640" cy="3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Gabriel Góes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6" name="Text 19"/>
          <p:cNvSpPr/>
          <p:nvPr/>
        </p:nvSpPr>
        <p:spPr>
          <a:xfrm>
            <a:off x="8411400" y="3620880"/>
            <a:ext cx="310464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fa0b8"/>
                </a:solidFill>
                <a:latin typeface="Calibri"/>
                <a:ea typeface="Calibri"/>
              </a:rPr>
              <a:t>arte e game design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67" name="Text 20"/>
          <p:cNvSpPr/>
          <p:nvPr/>
        </p:nvSpPr>
        <p:spPr>
          <a:xfrm>
            <a:off x="8411400" y="4251960"/>
            <a:ext cx="3104640" cy="324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Karina D’Alessandre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68" name="Text 21"/>
          <p:cNvSpPr/>
          <p:nvPr/>
        </p:nvSpPr>
        <p:spPr>
          <a:xfrm>
            <a:off x="8411400" y="4581000"/>
            <a:ext cx="310464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fa0b8"/>
                </a:solidFill>
                <a:latin typeface="Calibri"/>
                <a:ea typeface="Calibri"/>
              </a:rPr>
              <a:t>trilha sonora</a:t>
            </a:r>
            <a:endParaRPr b="0" lang="pt-BR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69" name="Image 0" descr="/tmp/claude-1000/-home-cmoryah-proj-the-party/20f7a24e-b8f2-4fc7-8068-208b8ed78fb2/scratchpad/shots/ttl-gancho.png"/>
          <p:cNvPicPr/>
          <p:nvPr/>
        </p:nvPicPr>
        <p:blipFill>
          <a:blip r:embed="rId1"/>
          <a:stretch/>
        </p:blipFill>
        <p:spPr>
          <a:xfrm>
            <a:off x="640080" y="294480"/>
            <a:ext cx="1919880" cy="970200"/>
          </a:xfrm>
          <a:prstGeom prst="rect">
            <a:avLst/>
          </a:prstGeom>
          <a:ln w="0">
            <a:noFill/>
          </a:ln>
        </p:spPr>
      </p:pic>
      <p:sp>
        <p:nvSpPr>
          <p:cNvPr id="70" name="Text 3"/>
          <p:cNvSpPr/>
          <p:nvPr/>
        </p:nvSpPr>
        <p:spPr>
          <a:xfrm>
            <a:off x="640080" y="1874520"/>
            <a:ext cx="8716320" cy="12758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4f1ea"/>
                </a:solidFill>
                <a:latin typeface="Calibri"/>
                <a:ea typeface="Calibri"/>
              </a:rPr>
              <a:t>Toda noite de Halloween os vivos e os monstros dividem a mesma rua, e em algum lugar da cidade acontece THE PARTY, a festa que qualquer monstro trocaria a vida eterna pra participar.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1" name="Text 4"/>
          <p:cNvSpPr/>
          <p:nvPr/>
        </p:nvSpPr>
        <p:spPr>
          <a:xfrm>
            <a:off x="640080" y="3291840"/>
            <a:ext cx="8716320" cy="910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4f1ea"/>
                </a:solidFill>
                <a:latin typeface="Calibri"/>
                <a:ea typeface="Calibri"/>
              </a:rPr>
              <a:t>Você é um vampiro que se acha demais. Esse ano o convite não chegou, e você tem certeza de que foi culpa do carteiro.</a:t>
            </a:r>
            <a:endParaRPr b="0" lang="pt-BR" sz="1700" spc="-1" strike="noStrike">
              <a:latin typeface="Arial"/>
            </a:endParaRPr>
          </a:p>
        </p:txBody>
      </p:sp>
      <p:sp>
        <p:nvSpPr>
          <p:cNvPr id="72" name="Text 5"/>
          <p:cNvSpPr/>
          <p:nvPr/>
        </p:nvSpPr>
        <p:spPr>
          <a:xfrm>
            <a:off x="640080" y="4307400"/>
            <a:ext cx="979632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e10600"/>
                </a:solidFill>
                <a:latin typeface="Bookman Old Style"/>
                <a:ea typeface="Bookman Old Style"/>
              </a:rPr>
              <a:t>Não foi. Foi o que você fez na festa do ano passado.</a:t>
            </a:r>
            <a:endParaRPr b="0" lang="pt-BR" sz="2400" spc="-1" strike="noStrike">
              <a:latin typeface="Arial"/>
            </a:endParaRPr>
          </a:p>
        </p:txBody>
      </p:sp>
      <p:sp>
        <p:nvSpPr>
          <p:cNvPr id="73" name="Text 6"/>
          <p:cNvSpPr/>
          <p:nvPr/>
        </p:nvSpPr>
        <p:spPr>
          <a:xfrm>
            <a:off x="640080" y="5120640"/>
            <a:ext cx="7493760" cy="544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700" spc="-1" strike="noStrike">
                <a:solidFill>
                  <a:srgbClr val="f4f1ea"/>
                </a:solidFill>
                <a:latin typeface="Calibri"/>
                <a:ea typeface="Calibri"/>
              </a:rPr>
              <a:t>São seis minutos até o sol nascer, e metade da cidade vai mentir para você.</a:t>
            </a:r>
            <a:endParaRPr b="0" lang="pt-BR" sz="17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74" name="Image 0" descr="/tmp/claude-1000/-home-cmoryah-proj-the-party/20f7a24e-b8f2-4fc7-8068-208b8ed78fb2/scratchpad/shots/ttl-joga.png"/>
          <p:cNvPicPr/>
          <p:nvPr/>
        </p:nvPicPr>
        <p:blipFill>
          <a:blip r:embed="rId1"/>
          <a:stretch/>
        </p:blipFill>
        <p:spPr>
          <a:xfrm>
            <a:off x="640080" y="295200"/>
            <a:ext cx="2673720" cy="968760"/>
          </a:xfrm>
          <a:prstGeom prst="rect">
            <a:avLst/>
          </a:prstGeom>
          <a:ln w="0">
            <a:noFill/>
          </a:ln>
        </p:spPr>
      </p:pic>
      <p:sp>
        <p:nvSpPr>
          <p:cNvPr id="75" name="Text 2"/>
          <p:cNvSpPr/>
          <p:nvPr/>
        </p:nvSpPr>
        <p:spPr>
          <a:xfrm>
            <a:off x="1170360" y="1261800"/>
            <a:ext cx="1034676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80" strike="noStrike">
                <a:solidFill>
                  <a:srgbClr val="e10600"/>
                </a:solidFill>
                <a:latin typeface="Calibri"/>
                <a:ea typeface="Calibri"/>
              </a:rPr>
              <a:t>O LOOP, E TUDO O QUE ATRAPALHA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76" name="Shape 3"/>
          <p:cNvSpPr/>
          <p:nvPr/>
        </p:nvSpPr>
        <p:spPr>
          <a:xfrm>
            <a:off x="640080" y="1691640"/>
            <a:ext cx="2613240" cy="1961640"/>
          </a:xfrm>
          <a:prstGeom prst="roundRect">
            <a:avLst>
              <a:gd name="adj" fmla="val 930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77" name="Text 4"/>
          <p:cNvSpPr/>
          <p:nvPr/>
        </p:nvSpPr>
        <p:spPr>
          <a:xfrm>
            <a:off x="859680" y="1810440"/>
            <a:ext cx="63576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e10600"/>
                </a:solidFill>
                <a:latin typeface="Bookman Old Style"/>
                <a:ea typeface="Bookman Old Style"/>
              </a:rPr>
              <a:t>1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78" name="Text 5"/>
          <p:cNvSpPr/>
          <p:nvPr/>
        </p:nvSpPr>
        <p:spPr>
          <a:xfrm>
            <a:off x="859680" y="2322720"/>
            <a:ext cx="2174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Achar a festa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79" name="Text 6"/>
          <p:cNvSpPr/>
          <p:nvPr/>
        </p:nvSpPr>
        <p:spPr>
          <a:xfrm>
            <a:off x="859680" y="2670120"/>
            <a:ext cx="217440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a0b8"/>
                </a:solidFill>
                <a:latin typeface="Calibri"/>
                <a:ea typeface="Calibri"/>
              </a:rPr>
              <a:t>É a única coisa que você tem que fazer, e ninguém te diz onde é.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80" name="Shape 7"/>
          <p:cNvSpPr/>
          <p:nvPr/>
        </p:nvSpPr>
        <p:spPr>
          <a:xfrm>
            <a:off x="3394800" y="1691640"/>
            <a:ext cx="2613240" cy="1961640"/>
          </a:xfrm>
          <a:prstGeom prst="roundRect">
            <a:avLst>
              <a:gd name="adj" fmla="val 930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1" name="Text 8"/>
          <p:cNvSpPr/>
          <p:nvPr/>
        </p:nvSpPr>
        <p:spPr>
          <a:xfrm>
            <a:off x="3614040" y="1810440"/>
            <a:ext cx="63576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e10600"/>
                </a:solidFill>
                <a:latin typeface="Bookman Old Style"/>
                <a:ea typeface="Bookman Old Style"/>
              </a:rPr>
              <a:t>2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82" name="Text 9"/>
          <p:cNvSpPr/>
          <p:nvPr/>
        </p:nvSpPr>
        <p:spPr>
          <a:xfrm>
            <a:off x="3614040" y="2322720"/>
            <a:ext cx="2174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Achar o gato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83" name="Text 10"/>
          <p:cNvSpPr/>
          <p:nvPr/>
        </p:nvSpPr>
        <p:spPr>
          <a:xfrm>
            <a:off x="3614040" y="2670120"/>
            <a:ext cx="217440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a0b8"/>
                </a:solidFill>
                <a:latin typeface="Calibri"/>
                <a:ea typeface="Calibri"/>
              </a:rPr>
              <a:t>O gato-guia ativa a visão vampírica, onde é possível ver os monstros.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84" name="Shape 11"/>
          <p:cNvSpPr/>
          <p:nvPr/>
        </p:nvSpPr>
        <p:spPr>
          <a:xfrm>
            <a:off x="6149520" y="1691640"/>
            <a:ext cx="2613240" cy="1961640"/>
          </a:xfrm>
          <a:prstGeom prst="roundRect">
            <a:avLst>
              <a:gd name="adj" fmla="val 930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5" name="Text 12"/>
          <p:cNvSpPr/>
          <p:nvPr/>
        </p:nvSpPr>
        <p:spPr>
          <a:xfrm>
            <a:off x="6368760" y="1810440"/>
            <a:ext cx="63576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e10600"/>
                </a:solidFill>
                <a:latin typeface="Bookman Old Style"/>
                <a:ea typeface="Bookman Old Style"/>
              </a:rPr>
              <a:t>3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86" name="Text 13"/>
          <p:cNvSpPr/>
          <p:nvPr/>
        </p:nvSpPr>
        <p:spPr>
          <a:xfrm>
            <a:off x="6368760" y="2322720"/>
            <a:ext cx="2174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Ouvir o monstro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87" name="Text 14"/>
          <p:cNvSpPr/>
          <p:nvPr/>
        </p:nvSpPr>
        <p:spPr>
          <a:xfrm>
            <a:off x="6368760" y="2670120"/>
            <a:ext cx="217440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a0b8"/>
                </a:solidFill>
                <a:latin typeface="Calibri"/>
                <a:ea typeface="Calibri"/>
              </a:rPr>
              <a:t>Cada um entrega uma carta: distrito, avenida, rua ou decoração.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88" name="Shape 15"/>
          <p:cNvSpPr/>
          <p:nvPr/>
        </p:nvSpPr>
        <p:spPr>
          <a:xfrm>
            <a:off x="8903880" y="1691640"/>
            <a:ext cx="2613240" cy="1961640"/>
          </a:xfrm>
          <a:prstGeom prst="roundRect">
            <a:avLst>
              <a:gd name="adj" fmla="val 930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89" name="Text 16"/>
          <p:cNvSpPr/>
          <p:nvPr/>
        </p:nvSpPr>
        <p:spPr>
          <a:xfrm>
            <a:off x="9123480" y="1810440"/>
            <a:ext cx="635760" cy="498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800" spc="-1" strike="noStrike">
                <a:solidFill>
                  <a:srgbClr val="e10600"/>
                </a:solidFill>
                <a:latin typeface="Bookman Old Style"/>
                <a:ea typeface="Bookman Old Style"/>
              </a:rPr>
              <a:t>4</a:t>
            </a:r>
            <a:endParaRPr b="0" lang="pt-BR" sz="2800" spc="-1" strike="noStrike">
              <a:latin typeface="Arial"/>
            </a:endParaRPr>
          </a:p>
        </p:txBody>
      </p:sp>
      <p:sp>
        <p:nvSpPr>
          <p:cNvPr id="90" name="Text 17"/>
          <p:cNvSpPr/>
          <p:nvPr/>
        </p:nvSpPr>
        <p:spPr>
          <a:xfrm>
            <a:off x="9123480" y="2322720"/>
            <a:ext cx="217440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Fechar o cerco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91" name="Text 18"/>
          <p:cNvSpPr/>
          <p:nvPr/>
        </p:nvSpPr>
        <p:spPr>
          <a:xfrm>
            <a:off x="9123480" y="2670120"/>
            <a:ext cx="2174400" cy="864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a0b8"/>
                </a:solidFill>
                <a:latin typeface="Calibri"/>
                <a:ea typeface="Calibri"/>
              </a:rPr>
              <a:t>Cada dica reduz onde a festa pode estar. O mapa sombreia, não elimina.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92" name="Shape 19"/>
          <p:cNvSpPr/>
          <p:nvPr/>
        </p:nvSpPr>
        <p:spPr>
          <a:xfrm>
            <a:off x="640080" y="4087440"/>
            <a:ext cx="199800" cy="324720"/>
          </a:xfrm>
          <a:prstGeom prst="roundRect">
            <a:avLst>
              <a:gd name="adj" fmla="val 1344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3" name="Shape 20"/>
          <p:cNvSpPr/>
          <p:nvPr/>
        </p:nvSpPr>
        <p:spPr>
          <a:xfrm>
            <a:off x="786960" y="425196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4" name="Text 21"/>
          <p:cNvSpPr/>
          <p:nvPr/>
        </p:nvSpPr>
        <p:spPr>
          <a:xfrm>
            <a:off x="1024200" y="4069080"/>
            <a:ext cx="4823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Porta errada = mais doce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95" name="Text 22"/>
          <p:cNvSpPr/>
          <p:nvPr/>
        </p:nvSpPr>
        <p:spPr>
          <a:xfrm>
            <a:off x="1024200" y="4416480"/>
            <a:ext cx="482364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9fa0b8"/>
                </a:solidFill>
                <a:latin typeface="Calibri"/>
                <a:ea typeface="Calibri"/>
              </a:rPr>
              <a:t>Os moradores insistem que você é um trick-or-treater e enchem o seu saco de bala.</a:t>
            </a:r>
            <a:endParaRPr b="0" lang="pt-BR" sz="1250" spc="-1" strike="noStrike">
              <a:latin typeface="Arial"/>
            </a:endParaRPr>
          </a:p>
        </p:txBody>
      </p:sp>
      <p:sp>
        <p:nvSpPr>
          <p:cNvPr id="96" name="Shape 23"/>
          <p:cNvSpPr/>
          <p:nvPr/>
        </p:nvSpPr>
        <p:spPr>
          <a:xfrm>
            <a:off x="6309360" y="4087440"/>
            <a:ext cx="199800" cy="324720"/>
          </a:xfrm>
          <a:prstGeom prst="roundRect">
            <a:avLst>
              <a:gd name="adj" fmla="val 1344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97" name="Shape 24"/>
          <p:cNvSpPr/>
          <p:nvPr/>
        </p:nvSpPr>
        <p:spPr>
          <a:xfrm>
            <a:off x="6456240" y="425196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98" name="Text 25"/>
          <p:cNvSpPr/>
          <p:nvPr/>
        </p:nvSpPr>
        <p:spPr>
          <a:xfrm>
            <a:off x="6693480" y="4069080"/>
            <a:ext cx="4823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Doce atrai criança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99" name="Text 26"/>
          <p:cNvSpPr/>
          <p:nvPr/>
        </p:nvSpPr>
        <p:spPr>
          <a:xfrm>
            <a:off x="6693480" y="4416480"/>
            <a:ext cx="482364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9fa0b8"/>
                </a:solidFill>
                <a:latin typeface="Calibri"/>
                <a:ea typeface="Calibri"/>
              </a:rPr>
              <a:t>E criança atrapalha. Quanto mais bala você carrega, mais devagar você chega.</a:t>
            </a:r>
            <a:endParaRPr b="0" lang="pt-BR" sz="1250" spc="-1" strike="noStrike">
              <a:latin typeface="Arial"/>
            </a:endParaRPr>
          </a:p>
        </p:txBody>
      </p:sp>
      <p:sp>
        <p:nvSpPr>
          <p:cNvPr id="100" name="Shape 27"/>
          <p:cNvSpPr/>
          <p:nvPr/>
        </p:nvSpPr>
        <p:spPr>
          <a:xfrm>
            <a:off x="640080" y="5321880"/>
            <a:ext cx="199800" cy="324720"/>
          </a:xfrm>
          <a:prstGeom prst="roundRect">
            <a:avLst>
              <a:gd name="adj" fmla="val 1344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1" name="Shape 28"/>
          <p:cNvSpPr/>
          <p:nvPr/>
        </p:nvSpPr>
        <p:spPr>
          <a:xfrm>
            <a:off x="786960" y="548640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2" name="Text 29"/>
          <p:cNvSpPr/>
          <p:nvPr/>
        </p:nvSpPr>
        <p:spPr>
          <a:xfrm>
            <a:off x="1024200" y="5303520"/>
            <a:ext cx="4823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Atraso = festa perdida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03" name="Text 30"/>
          <p:cNvSpPr/>
          <p:nvPr/>
        </p:nvSpPr>
        <p:spPr>
          <a:xfrm>
            <a:off x="1024200" y="5650920"/>
            <a:ext cx="482364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9fa0b8"/>
                </a:solidFill>
                <a:latin typeface="Calibri"/>
                <a:ea typeface="Calibri"/>
              </a:rPr>
              <a:t>Às 6h o sol nasce. Não existe segunda chance na mesma noite.</a:t>
            </a:r>
            <a:endParaRPr b="0" lang="pt-BR" sz="1250" spc="-1" strike="noStrike">
              <a:latin typeface="Arial"/>
            </a:endParaRPr>
          </a:p>
        </p:txBody>
      </p:sp>
      <p:sp>
        <p:nvSpPr>
          <p:cNvPr id="104" name="Shape 31"/>
          <p:cNvSpPr/>
          <p:nvPr/>
        </p:nvSpPr>
        <p:spPr>
          <a:xfrm>
            <a:off x="6309360" y="5321880"/>
            <a:ext cx="199800" cy="324720"/>
          </a:xfrm>
          <a:prstGeom prst="roundRect">
            <a:avLst>
              <a:gd name="adj" fmla="val 1344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05" name="Shape 32"/>
          <p:cNvSpPr/>
          <p:nvPr/>
        </p:nvSpPr>
        <p:spPr>
          <a:xfrm>
            <a:off x="6456240" y="548640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06" name="Text 33"/>
          <p:cNvSpPr/>
          <p:nvPr/>
        </p:nvSpPr>
        <p:spPr>
          <a:xfrm>
            <a:off x="6693480" y="5303520"/>
            <a:ext cx="4823640" cy="306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Nem toda dica é verdade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07" name="Text 34"/>
          <p:cNvSpPr/>
          <p:nvPr/>
        </p:nvSpPr>
        <p:spPr>
          <a:xfrm>
            <a:off x="6693480" y="5650920"/>
            <a:ext cx="4823640" cy="681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9fa0b8"/>
                </a:solidFill>
                <a:latin typeface="Calibri"/>
                <a:ea typeface="Calibri"/>
              </a:rPr>
              <a:t>Alguns monstros mentem, outros lembram muito bem de você do ano passado.</a:t>
            </a:r>
            <a:endParaRPr b="0" lang="pt-BR" sz="12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5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08" name="Image 0" descr="/tmp/claude-1000/-home-cmoryah-proj-the-party/20f7a24e-b8f2-4fc7-8068-208b8ed78fb2/scratchpad/shots/ttl-gameplay.png"/>
          <p:cNvPicPr/>
          <p:nvPr/>
        </p:nvPicPr>
        <p:blipFill>
          <a:blip r:embed="rId1"/>
          <a:stretch/>
        </p:blipFill>
        <p:spPr>
          <a:xfrm>
            <a:off x="640080" y="292320"/>
            <a:ext cx="2035440" cy="976680"/>
          </a:xfrm>
          <a:prstGeom prst="rect">
            <a:avLst/>
          </a:prstGeom>
          <a:ln w="0">
            <a:noFill/>
          </a:ln>
        </p:spPr>
      </p:pic>
      <p:pic>
        <p:nvPicPr>
          <p:cNvPr id="109" name="" descr="">
            <a:hlinkClick r:id="" action="ppaction://media"/>
          </p:cNvPr>
          <p:cNvPicPr/>
          <p:nvPr>
            <a:videoFile r:link="rId2"/>
            <p:extLst>
              <p:ext uri="{DAA4B4D4-6D71-4841-9C94-3DE7FCFB9230}">
                <p14:media r:embed="rId3"/>
              </p:ext>
            </p:extLst>
          </p:nvPr>
        </p:nvPicPr>
        <p:blipFill>
          <a:blip r:embed="rId4"/>
          <a:stretch>
            <a:fillRect/>
          </a:stretch>
        </p:blipFill>
        <p:spPr>
          <a:xfrm>
            <a:off x="1488600" y="1444680"/>
            <a:ext cx="9182880" cy="51645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6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10" name="Image 0" descr="/tmp/claude-1000/-home-cmoryah-proj-the-party/20f7a24e-b8f2-4fc7-8068-208b8ed78fb2/scratchpad/shots/ttl-massa.png"/>
          <p:cNvPicPr/>
          <p:nvPr/>
        </p:nvPicPr>
        <p:blipFill>
          <a:blip r:embed="rId1"/>
          <a:stretch/>
        </p:blipFill>
        <p:spPr>
          <a:xfrm>
            <a:off x="640080" y="298440"/>
            <a:ext cx="1901160" cy="871560"/>
          </a:xfrm>
          <a:prstGeom prst="rect">
            <a:avLst/>
          </a:prstGeom>
          <a:ln w="0">
            <a:noFill/>
          </a:ln>
        </p:spPr>
      </p:pic>
      <p:sp>
        <p:nvSpPr>
          <p:cNvPr id="111" name="Text 9"/>
          <p:cNvSpPr/>
          <p:nvPr/>
        </p:nvSpPr>
        <p:spPr>
          <a:xfrm>
            <a:off x="6355080" y="1648800"/>
            <a:ext cx="5162040" cy="379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07818"/>
                </a:solidFill>
                <a:latin typeface="Bookman Old Style"/>
                <a:ea typeface="Bookman Old Style"/>
              </a:rPr>
              <a:t>Monstros variados, fantasias variadas</a:t>
            </a:r>
            <a:endParaRPr b="0" lang="pt-BR" sz="1900" spc="-1" strike="noStrike">
              <a:latin typeface="Arial"/>
            </a:endParaRPr>
          </a:p>
        </p:txBody>
      </p:sp>
      <p:pic>
        <p:nvPicPr>
          <p:cNvPr id="112" name="Image 1" descr="/tmp/claude-1000/-home-cmoryah-proj-the-party/20f7a24e-b8f2-4fc7-8068-208b8ed78fb2/scratchpad/shots/strip-kids.png"/>
          <p:cNvPicPr/>
          <p:nvPr/>
        </p:nvPicPr>
        <p:blipFill>
          <a:blip r:embed="rId2"/>
          <a:stretch/>
        </p:blipFill>
        <p:spPr>
          <a:xfrm>
            <a:off x="6355080" y="2267640"/>
            <a:ext cx="5164200" cy="1708200"/>
          </a:xfrm>
          <a:prstGeom prst="rect">
            <a:avLst/>
          </a:prstGeom>
          <a:ln w="0">
            <a:noFill/>
          </a:ln>
        </p:spPr>
      </p:pic>
      <p:sp>
        <p:nvSpPr>
          <p:cNvPr id="113" name="Shape 0"/>
          <p:cNvSpPr/>
          <p:nvPr/>
        </p:nvSpPr>
        <p:spPr>
          <a:xfrm>
            <a:off x="640080" y="1664280"/>
            <a:ext cx="5118120" cy="710640"/>
          </a:xfrm>
          <a:prstGeom prst="roundRect">
            <a:avLst>
              <a:gd name="adj" fmla="val 2564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4" name="Shape 1"/>
          <p:cNvSpPr/>
          <p:nvPr/>
        </p:nvSpPr>
        <p:spPr>
          <a:xfrm>
            <a:off x="877680" y="1883520"/>
            <a:ext cx="167400" cy="271800"/>
          </a:xfrm>
          <a:prstGeom prst="roundRect">
            <a:avLst>
              <a:gd name="adj" fmla="val 16129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5" name="Shape 2"/>
          <p:cNvSpPr/>
          <p:nvPr/>
        </p:nvSpPr>
        <p:spPr>
          <a:xfrm>
            <a:off x="1000440" y="2020680"/>
            <a:ext cx="43200" cy="4320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16" name="Text 3"/>
          <p:cNvSpPr/>
          <p:nvPr/>
        </p:nvSpPr>
        <p:spPr>
          <a:xfrm>
            <a:off x="1298520" y="1664280"/>
            <a:ext cx="42494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Mapa imenso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17" name="Shape 4"/>
          <p:cNvSpPr/>
          <p:nvPr/>
        </p:nvSpPr>
        <p:spPr>
          <a:xfrm>
            <a:off x="640080" y="2459880"/>
            <a:ext cx="5118120" cy="710640"/>
          </a:xfrm>
          <a:prstGeom prst="roundRect">
            <a:avLst>
              <a:gd name="adj" fmla="val 2564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18" name="Shape 5"/>
          <p:cNvSpPr/>
          <p:nvPr/>
        </p:nvSpPr>
        <p:spPr>
          <a:xfrm>
            <a:off x="877680" y="2679120"/>
            <a:ext cx="167400" cy="271800"/>
          </a:xfrm>
          <a:prstGeom prst="roundRect">
            <a:avLst>
              <a:gd name="adj" fmla="val 16129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19" name="Shape 6"/>
          <p:cNvSpPr/>
          <p:nvPr/>
        </p:nvSpPr>
        <p:spPr>
          <a:xfrm>
            <a:off x="1000440" y="2816280"/>
            <a:ext cx="43200" cy="4320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0" name="Text 7"/>
          <p:cNvSpPr/>
          <p:nvPr/>
        </p:nvSpPr>
        <p:spPr>
          <a:xfrm>
            <a:off x="1298520" y="2459880"/>
            <a:ext cx="42494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Centenas de NPCs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21" name="Shape 8"/>
          <p:cNvSpPr/>
          <p:nvPr/>
        </p:nvSpPr>
        <p:spPr>
          <a:xfrm>
            <a:off x="640080" y="3255120"/>
            <a:ext cx="5118120" cy="710640"/>
          </a:xfrm>
          <a:prstGeom prst="roundRect">
            <a:avLst>
              <a:gd name="adj" fmla="val 2564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2" name="Shape 9"/>
          <p:cNvSpPr/>
          <p:nvPr/>
        </p:nvSpPr>
        <p:spPr>
          <a:xfrm>
            <a:off x="877680" y="3474720"/>
            <a:ext cx="167400" cy="271800"/>
          </a:xfrm>
          <a:prstGeom prst="roundRect">
            <a:avLst>
              <a:gd name="adj" fmla="val 16129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3" name="Shape 10"/>
          <p:cNvSpPr/>
          <p:nvPr/>
        </p:nvSpPr>
        <p:spPr>
          <a:xfrm>
            <a:off x="1000440" y="3611880"/>
            <a:ext cx="43200" cy="4320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4" name="Text 11"/>
          <p:cNvSpPr/>
          <p:nvPr/>
        </p:nvSpPr>
        <p:spPr>
          <a:xfrm>
            <a:off x="1298520" y="3255120"/>
            <a:ext cx="42494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Rejogabilidade infinita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25" name="Shape 12"/>
          <p:cNvSpPr/>
          <p:nvPr/>
        </p:nvSpPr>
        <p:spPr>
          <a:xfrm>
            <a:off x="640080" y="4050720"/>
            <a:ext cx="5118120" cy="710640"/>
          </a:xfrm>
          <a:prstGeom prst="roundRect">
            <a:avLst>
              <a:gd name="adj" fmla="val 2564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26" name="Shape 13"/>
          <p:cNvSpPr/>
          <p:nvPr/>
        </p:nvSpPr>
        <p:spPr>
          <a:xfrm>
            <a:off x="877680" y="4270320"/>
            <a:ext cx="167400" cy="271800"/>
          </a:xfrm>
          <a:prstGeom prst="roundRect">
            <a:avLst>
              <a:gd name="adj" fmla="val 16129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27" name="Shape 14"/>
          <p:cNvSpPr/>
          <p:nvPr/>
        </p:nvSpPr>
        <p:spPr>
          <a:xfrm>
            <a:off x="1000440" y="4407480"/>
            <a:ext cx="43200" cy="4320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28" name="Text 15"/>
          <p:cNvSpPr/>
          <p:nvPr/>
        </p:nvSpPr>
        <p:spPr>
          <a:xfrm>
            <a:off x="1298520" y="4050720"/>
            <a:ext cx="42494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Sistema de dicas: verdade ou mentira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29" name="Shape 16"/>
          <p:cNvSpPr/>
          <p:nvPr/>
        </p:nvSpPr>
        <p:spPr>
          <a:xfrm>
            <a:off x="640080" y="4846320"/>
            <a:ext cx="5118120" cy="710640"/>
          </a:xfrm>
          <a:prstGeom prst="roundRect">
            <a:avLst>
              <a:gd name="adj" fmla="val 2564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0" name="Shape 17"/>
          <p:cNvSpPr/>
          <p:nvPr/>
        </p:nvSpPr>
        <p:spPr>
          <a:xfrm>
            <a:off x="877680" y="5065920"/>
            <a:ext cx="167400" cy="271800"/>
          </a:xfrm>
          <a:prstGeom prst="roundRect">
            <a:avLst>
              <a:gd name="adj" fmla="val 16129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1" name="Shape 18"/>
          <p:cNvSpPr/>
          <p:nvPr/>
        </p:nvSpPr>
        <p:spPr>
          <a:xfrm>
            <a:off x="1000440" y="5203080"/>
            <a:ext cx="43200" cy="4320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2" name="Text 19"/>
          <p:cNvSpPr/>
          <p:nvPr/>
        </p:nvSpPr>
        <p:spPr>
          <a:xfrm>
            <a:off x="1298520" y="4846320"/>
            <a:ext cx="42494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Trilha sonora original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33" name="Shape 20"/>
          <p:cNvSpPr/>
          <p:nvPr/>
        </p:nvSpPr>
        <p:spPr>
          <a:xfrm>
            <a:off x="640080" y="5641920"/>
            <a:ext cx="5118120" cy="710640"/>
          </a:xfrm>
          <a:prstGeom prst="roundRect">
            <a:avLst>
              <a:gd name="adj" fmla="val 2564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34" name="Shape 21"/>
          <p:cNvSpPr/>
          <p:nvPr/>
        </p:nvSpPr>
        <p:spPr>
          <a:xfrm>
            <a:off x="877680" y="5861160"/>
            <a:ext cx="167400" cy="271800"/>
          </a:xfrm>
          <a:prstGeom prst="roundRect">
            <a:avLst>
              <a:gd name="adj" fmla="val 16129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35" name="Shape 22"/>
          <p:cNvSpPr/>
          <p:nvPr/>
        </p:nvSpPr>
        <p:spPr>
          <a:xfrm>
            <a:off x="1000440" y="5998320"/>
            <a:ext cx="43200" cy="4320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36" name="Text 23"/>
          <p:cNvSpPr/>
          <p:nvPr/>
        </p:nvSpPr>
        <p:spPr>
          <a:xfrm>
            <a:off x="1298520" y="5641920"/>
            <a:ext cx="4249440" cy="710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Estilo de desenho visualmente impactante</a:t>
            </a:r>
            <a:endParaRPr b="0" lang="pt-BR" sz="1400" spc="-1" strike="noStrike">
              <a:latin typeface="Arial"/>
            </a:endParaRPr>
          </a:p>
        </p:txBody>
      </p:sp>
      <p:pic>
        <p:nvPicPr>
          <p:cNvPr id="137" name="Image 0" descr="/tmp/claude-1000/-home-cmoryah-proj-the-party/20f7a24e-b8f2-4fc7-8068-208b8ed78fb2/scratchpad/shots/nosferatu.png"/>
          <p:cNvPicPr/>
          <p:nvPr/>
        </p:nvPicPr>
        <p:blipFill>
          <a:blip r:embed="rId3"/>
          <a:stretch/>
        </p:blipFill>
        <p:spPr>
          <a:xfrm>
            <a:off x="6400800" y="4407480"/>
            <a:ext cx="1324080" cy="1460880"/>
          </a:xfrm>
          <a:prstGeom prst="rect">
            <a:avLst/>
          </a:prstGeom>
          <a:ln w="0">
            <a:noFill/>
          </a:ln>
        </p:spPr>
      </p:pic>
      <p:pic>
        <p:nvPicPr>
          <p:cNvPr id="138" name="Image 1" descr="/tmp/claude-1000/-home-cmoryah-proj-the-party/20f7a24e-b8f2-4fc7-8068-208b8ed78fb2/scratchpad/shots/witch.png"/>
          <p:cNvPicPr/>
          <p:nvPr/>
        </p:nvPicPr>
        <p:blipFill>
          <a:blip r:embed="rId4"/>
          <a:stretch/>
        </p:blipFill>
        <p:spPr>
          <a:xfrm>
            <a:off x="7955280" y="4297680"/>
            <a:ext cx="964080" cy="159804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7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 show="0">
  <p:cSld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39" name="Image 0" descr="/tmp/claude-1000/-home-cmoryah-proj-the-party/20f7a24e-b8f2-4fc7-8068-208b8ed78fb2/scratchpad/shots/ttl-visao.png"/>
          <p:cNvPicPr/>
          <p:nvPr/>
        </p:nvPicPr>
        <p:blipFill>
          <a:blip r:embed="rId1"/>
          <a:stretch/>
        </p:blipFill>
        <p:spPr>
          <a:xfrm>
            <a:off x="640080" y="295920"/>
            <a:ext cx="3153960" cy="967320"/>
          </a:xfrm>
          <a:prstGeom prst="rect">
            <a:avLst/>
          </a:prstGeom>
          <a:ln w="0">
            <a:noFill/>
          </a:ln>
        </p:spPr>
      </p:pic>
      <p:sp>
        <p:nvSpPr>
          <p:cNvPr id="140" name="Text 3"/>
          <p:cNvSpPr/>
          <p:nvPr/>
        </p:nvSpPr>
        <p:spPr>
          <a:xfrm>
            <a:off x="8092440" y="748800"/>
            <a:ext cx="3424680" cy="12301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900" spc="-1" strike="noStrike">
                <a:solidFill>
                  <a:srgbClr val="f07818"/>
                </a:solidFill>
                <a:latin typeface="Bookman Old Style"/>
                <a:ea typeface="Bookman Old Style"/>
              </a:rPr>
              <a:t>Por alguns segundos, a cidade mostra o que ela é.</a:t>
            </a:r>
            <a:endParaRPr b="0" lang="pt-BR" sz="1900" spc="-1" strike="noStrike">
              <a:latin typeface="Arial"/>
            </a:endParaRPr>
          </a:p>
        </p:txBody>
      </p:sp>
      <p:pic>
        <p:nvPicPr>
          <p:cNvPr id="141" name="" descr=""/>
          <p:cNvPicPr/>
          <p:nvPr/>
        </p:nvPicPr>
        <p:blipFill>
          <a:blip r:embed="rId2"/>
          <a:stretch/>
        </p:blipFill>
        <p:spPr>
          <a:xfrm>
            <a:off x="0" y="1688760"/>
            <a:ext cx="12188520" cy="777096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8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42" name="Image 0" descr="/tmp/claude-1000/-home-cmoryah-proj-the-party/20f7a24e-b8f2-4fc7-8068-208b8ed78fb2/scratchpad/shots/ttl-equipe.png"/>
          <p:cNvPicPr/>
          <p:nvPr/>
        </p:nvPicPr>
        <p:blipFill>
          <a:blip r:embed="rId1"/>
          <a:stretch/>
        </p:blipFill>
        <p:spPr>
          <a:xfrm>
            <a:off x="640080" y="294480"/>
            <a:ext cx="1851840" cy="970560"/>
          </a:xfrm>
          <a:prstGeom prst="rect">
            <a:avLst/>
          </a:prstGeom>
          <a:ln w="0">
            <a:noFill/>
          </a:ln>
        </p:spPr>
      </p:pic>
      <p:pic>
        <p:nvPicPr>
          <p:cNvPr id="143" name="Image 1" descr="/tmp/claude-1000/-home-cmoryah-proj-the-party/20f7a24e-b8f2-4fc7-8068-208b8ed78fb2/scratchpad/shots/team.jpg"/>
          <p:cNvPicPr/>
          <p:nvPr/>
        </p:nvPicPr>
        <p:blipFill>
          <a:blip r:embed="rId2"/>
          <a:stretch/>
        </p:blipFill>
        <p:spPr>
          <a:xfrm>
            <a:off x="640080" y="1783080"/>
            <a:ext cx="3927600" cy="3406320"/>
          </a:xfrm>
          <a:prstGeom prst="rect">
            <a:avLst/>
          </a:prstGeom>
          <a:ln w="0">
            <a:noFill/>
          </a:ln>
        </p:spPr>
      </p:pic>
      <p:sp>
        <p:nvSpPr>
          <p:cNvPr id="144" name="Shape 5"/>
          <p:cNvSpPr/>
          <p:nvPr/>
        </p:nvSpPr>
        <p:spPr>
          <a:xfrm>
            <a:off x="4892040" y="1783080"/>
            <a:ext cx="6625080" cy="1477080"/>
          </a:xfrm>
          <a:prstGeom prst="roundRect">
            <a:avLst>
              <a:gd name="adj" fmla="val 1235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45" name="Shape 6"/>
          <p:cNvSpPr/>
          <p:nvPr/>
        </p:nvSpPr>
        <p:spPr>
          <a:xfrm>
            <a:off x="5166360" y="2002680"/>
            <a:ext cx="222480" cy="361440"/>
          </a:xfrm>
          <a:prstGeom prst="roundRect">
            <a:avLst>
              <a:gd name="adj" fmla="val 12097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46" name="Shape 7"/>
          <p:cNvSpPr/>
          <p:nvPr/>
        </p:nvSpPr>
        <p:spPr>
          <a:xfrm>
            <a:off x="5329800" y="218556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47" name="Text 8"/>
          <p:cNvSpPr/>
          <p:nvPr/>
        </p:nvSpPr>
        <p:spPr>
          <a:xfrm>
            <a:off x="5623560" y="1965960"/>
            <a:ext cx="27388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Christian Miranda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48" name="Text 9"/>
          <p:cNvSpPr/>
          <p:nvPr/>
        </p:nvSpPr>
        <p:spPr>
          <a:xfrm>
            <a:off x="8412480" y="2030040"/>
            <a:ext cx="28303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10600"/>
                </a:solidFill>
                <a:latin typeface="Calibri"/>
                <a:ea typeface="Calibri"/>
              </a:rPr>
              <a:t>programação e game design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49" name="Text 10"/>
          <p:cNvSpPr/>
          <p:nvPr/>
        </p:nvSpPr>
        <p:spPr>
          <a:xfrm>
            <a:off x="5623560" y="2359080"/>
            <a:ext cx="561924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a0b8"/>
                </a:solidFill>
                <a:latin typeface="Calibri"/>
                <a:ea typeface="Calibri"/>
              </a:rPr>
              <a:t>Arquitetura, cidade procedural, e o sistema de pistas e de mentira que segura o jogo de pé.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150" name="Shape 11"/>
          <p:cNvSpPr/>
          <p:nvPr/>
        </p:nvSpPr>
        <p:spPr>
          <a:xfrm>
            <a:off x="4892040" y="3383280"/>
            <a:ext cx="6625080" cy="1477080"/>
          </a:xfrm>
          <a:prstGeom prst="roundRect">
            <a:avLst>
              <a:gd name="adj" fmla="val 1235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1" name="Shape 12"/>
          <p:cNvSpPr/>
          <p:nvPr/>
        </p:nvSpPr>
        <p:spPr>
          <a:xfrm>
            <a:off x="5166360" y="3602880"/>
            <a:ext cx="222480" cy="361440"/>
          </a:xfrm>
          <a:prstGeom prst="roundRect">
            <a:avLst>
              <a:gd name="adj" fmla="val 12097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2" name="Shape 13"/>
          <p:cNvSpPr/>
          <p:nvPr/>
        </p:nvSpPr>
        <p:spPr>
          <a:xfrm>
            <a:off x="5329800" y="378576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3" name="Text 14"/>
          <p:cNvSpPr/>
          <p:nvPr/>
        </p:nvSpPr>
        <p:spPr>
          <a:xfrm>
            <a:off x="5623560" y="3566160"/>
            <a:ext cx="27388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Gabriel Góes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54" name="Text 15"/>
          <p:cNvSpPr/>
          <p:nvPr/>
        </p:nvSpPr>
        <p:spPr>
          <a:xfrm>
            <a:off x="8412480" y="3630240"/>
            <a:ext cx="28303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10600"/>
                </a:solidFill>
                <a:latin typeface="Calibri"/>
                <a:ea typeface="Calibri"/>
              </a:rPr>
              <a:t>arte e direção visual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55" name="Text 16"/>
          <p:cNvSpPr/>
          <p:nvPr/>
        </p:nvSpPr>
        <p:spPr>
          <a:xfrm>
            <a:off x="5623560" y="3959280"/>
            <a:ext cx="561924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a0b8"/>
                </a:solidFill>
                <a:latin typeface="Calibri"/>
                <a:ea typeface="Calibri"/>
              </a:rPr>
              <a:t>Quadrinista. Criador de Billy Soco e Tiger Fist (Wundertoy Comics) e coautor das adaptações de O Beijo no Asfalto e Vestido de Noiva, de Nelson Rodrigues. Finalista do Prêmio Jabuti 2022 com Mapinguari. White Ravens, Cátedra UNESCO, FILBo.</a:t>
            </a:r>
            <a:endParaRPr b="0" lang="pt-BR" sz="1150" spc="-1" strike="noStrike">
              <a:latin typeface="Arial"/>
            </a:endParaRPr>
          </a:p>
        </p:txBody>
      </p:sp>
      <p:sp>
        <p:nvSpPr>
          <p:cNvPr id="156" name="Shape 17"/>
          <p:cNvSpPr/>
          <p:nvPr/>
        </p:nvSpPr>
        <p:spPr>
          <a:xfrm>
            <a:off x="4892040" y="4983480"/>
            <a:ext cx="6625080" cy="1477080"/>
          </a:xfrm>
          <a:prstGeom prst="roundRect">
            <a:avLst>
              <a:gd name="adj" fmla="val 1235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57" name="Shape 18"/>
          <p:cNvSpPr/>
          <p:nvPr/>
        </p:nvSpPr>
        <p:spPr>
          <a:xfrm>
            <a:off x="5166360" y="5203080"/>
            <a:ext cx="222480" cy="361440"/>
          </a:xfrm>
          <a:prstGeom prst="roundRect">
            <a:avLst>
              <a:gd name="adj" fmla="val 12097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58" name="Shape 19"/>
          <p:cNvSpPr/>
          <p:nvPr/>
        </p:nvSpPr>
        <p:spPr>
          <a:xfrm>
            <a:off x="5329800" y="538596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59" name="Text 20"/>
          <p:cNvSpPr/>
          <p:nvPr/>
        </p:nvSpPr>
        <p:spPr>
          <a:xfrm>
            <a:off x="5623560" y="5166360"/>
            <a:ext cx="2738880" cy="3430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0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Karina D’Alessandre</a:t>
            </a:r>
            <a:endParaRPr b="0" lang="pt-BR" sz="2000" spc="-1" strike="noStrike">
              <a:latin typeface="Arial"/>
            </a:endParaRPr>
          </a:p>
        </p:txBody>
      </p:sp>
      <p:sp>
        <p:nvSpPr>
          <p:cNvPr id="160" name="Text 21"/>
          <p:cNvSpPr/>
          <p:nvPr/>
        </p:nvSpPr>
        <p:spPr>
          <a:xfrm>
            <a:off x="8412480" y="5230440"/>
            <a:ext cx="28303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e10600"/>
                </a:solidFill>
                <a:latin typeface="Calibri"/>
                <a:ea typeface="Calibri"/>
              </a:rPr>
              <a:t>trilha sonora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1" name="Text 22"/>
          <p:cNvSpPr/>
          <p:nvPr/>
        </p:nvSpPr>
        <p:spPr>
          <a:xfrm>
            <a:off x="5623560" y="5559480"/>
            <a:ext cx="5619240" cy="7729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lang="en-US" sz="1150" spc="-1" strike="noStrike">
                <a:solidFill>
                  <a:srgbClr val="9fa0b8"/>
                </a:solidFill>
                <a:latin typeface="Calibri"/>
                <a:ea typeface="Calibri"/>
              </a:rPr>
              <a:t>Baterista de bandas punk, compondo pela primeira vez para um jogo: eletrônico com elementos de pós-punk. É a coisa mais fora da curva do projeto.</a:t>
            </a:r>
            <a:endParaRPr b="0" lang="pt-BR" sz="11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9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62" name="Image 0" descr="/tmp/claude-1000/-home-cmoryah-proj-the-party/20f7a24e-b8f2-4fc7-8068-208b8ed78fb2/scratchpad/shots/ttl-demo.png"/>
          <p:cNvPicPr/>
          <p:nvPr/>
        </p:nvPicPr>
        <p:blipFill>
          <a:blip r:embed="rId1"/>
          <a:stretch/>
        </p:blipFill>
        <p:spPr>
          <a:xfrm>
            <a:off x="640080" y="301320"/>
            <a:ext cx="1518840" cy="1137600"/>
          </a:xfrm>
          <a:prstGeom prst="rect">
            <a:avLst/>
          </a:prstGeom>
          <a:ln w="0">
            <a:noFill/>
          </a:ln>
        </p:spPr>
      </p:pic>
      <p:sp>
        <p:nvSpPr>
          <p:cNvPr id="163" name="Shape 5"/>
          <p:cNvSpPr/>
          <p:nvPr/>
        </p:nvSpPr>
        <p:spPr>
          <a:xfrm>
            <a:off x="622440" y="2520000"/>
            <a:ext cx="6036840" cy="719280"/>
          </a:xfrm>
          <a:prstGeom prst="roundRect">
            <a:avLst>
              <a:gd name="adj" fmla="val 2000"/>
            </a:avLst>
          </a:prstGeom>
          <a:solidFill>
            <a:srgbClr val="8f0a04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4" name="Text 6"/>
          <p:cNvSpPr/>
          <p:nvPr/>
        </p:nvSpPr>
        <p:spPr>
          <a:xfrm>
            <a:off x="622440" y="2520000"/>
            <a:ext cx="6036840" cy="719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https://c-redfield.itch.io/the-party</a:t>
            </a:r>
            <a:endParaRPr b="0" lang="pt-BR" sz="2400" spc="-1" strike="noStrike">
              <a:latin typeface="Arial"/>
            </a:endParaRPr>
          </a:p>
        </p:txBody>
      </p:sp>
      <p:sp>
        <p:nvSpPr>
          <p:cNvPr id="165" name="Shape 8"/>
          <p:cNvSpPr/>
          <p:nvPr/>
        </p:nvSpPr>
        <p:spPr>
          <a:xfrm>
            <a:off x="640080" y="4648680"/>
            <a:ext cx="188280" cy="306720"/>
          </a:xfrm>
          <a:prstGeom prst="roundRect">
            <a:avLst>
              <a:gd name="adj" fmla="val 1423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66" name="Shape 9"/>
          <p:cNvSpPr/>
          <p:nvPr/>
        </p:nvSpPr>
        <p:spPr>
          <a:xfrm>
            <a:off x="779040" y="480420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67" name="Text 10"/>
          <p:cNvSpPr/>
          <p:nvPr/>
        </p:nvSpPr>
        <p:spPr>
          <a:xfrm>
            <a:off x="1005840" y="4630320"/>
            <a:ext cx="60307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As cartas que se contradizem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68" name="Text 11"/>
          <p:cNvSpPr/>
          <p:nvPr/>
        </p:nvSpPr>
        <p:spPr>
          <a:xfrm>
            <a:off x="1005840" y="4923000"/>
            <a:ext cx="60307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fa0b8"/>
                </a:solidFill>
                <a:latin typeface="Calibri"/>
                <a:ea typeface="Calibri"/>
              </a:rPr>
              <a:t>Duas dizendo avenidas diferentes não é bug: é um deles mentindo.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69" name="Shape 12"/>
          <p:cNvSpPr/>
          <p:nvPr/>
        </p:nvSpPr>
        <p:spPr>
          <a:xfrm>
            <a:off x="640080" y="5252040"/>
            <a:ext cx="188280" cy="306720"/>
          </a:xfrm>
          <a:prstGeom prst="roundRect">
            <a:avLst>
              <a:gd name="adj" fmla="val 1423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0" name="Shape 13"/>
          <p:cNvSpPr/>
          <p:nvPr/>
        </p:nvSpPr>
        <p:spPr>
          <a:xfrm>
            <a:off x="779040" y="540756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1" name="Text 14"/>
          <p:cNvSpPr/>
          <p:nvPr/>
        </p:nvSpPr>
        <p:spPr>
          <a:xfrm>
            <a:off x="1005840" y="5233680"/>
            <a:ext cx="60307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O mapa que sombreia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72" name="Text 15"/>
          <p:cNvSpPr/>
          <p:nvPr/>
        </p:nvSpPr>
        <p:spPr>
          <a:xfrm>
            <a:off x="1005840" y="5526360"/>
            <a:ext cx="60307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fa0b8"/>
                </a:solidFill>
                <a:latin typeface="Calibri"/>
                <a:ea typeface="Calibri"/>
              </a:rPr>
              <a:t>Ele nunca elimina uma porta. Só pinta mais forte onde as dicas concordam.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73" name="Shape 16"/>
          <p:cNvSpPr/>
          <p:nvPr/>
        </p:nvSpPr>
        <p:spPr>
          <a:xfrm>
            <a:off x="640080" y="5855760"/>
            <a:ext cx="188280" cy="306720"/>
          </a:xfrm>
          <a:prstGeom prst="roundRect">
            <a:avLst>
              <a:gd name="adj" fmla="val 1423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74" name="Shape 17"/>
          <p:cNvSpPr/>
          <p:nvPr/>
        </p:nvSpPr>
        <p:spPr>
          <a:xfrm>
            <a:off x="779040" y="6010920"/>
            <a:ext cx="46080" cy="4608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75" name="Text 18"/>
          <p:cNvSpPr/>
          <p:nvPr/>
        </p:nvSpPr>
        <p:spPr>
          <a:xfrm>
            <a:off x="1005840" y="5837400"/>
            <a:ext cx="6030720" cy="2700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A visão vampírica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76" name="Text 19"/>
          <p:cNvSpPr/>
          <p:nvPr/>
        </p:nvSpPr>
        <p:spPr>
          <a:xfrm>
            <a:off x="1005840" y="6130080"/>
            <a:ext cx="6030720" cy="2883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fa0b8"/>
                </a:solidFill>
                <a:latin typeface="Calibri"/>
                <a:ea typeface="Calibri"/>
              </a:rPr>
              <a:t>Acenda perto de um grupo de crianças e veja quantas não eram crianças.</a:t>
            </a:r>
            <a:endParaRPr b="0" lang="pt-BR" sz="1200" spc="-1" strike="noStrike">
              <a:latin typeface="Arial"/>
            </a:endParaRPr>
          </a:p>
        </p:txBody>
      </p:sp>
      <p:pic>
        <p:nvPicPr>
          <p:cNvPr id="177" name="Image 1" descr="/tmp/claude-1000/-home-cmoryah-proj-the-party/20f7a24e-b8f2-4fc7-8068-208b8ed78fb2/scratchpad/shots/g-city.png"/>
          <p:cNvPicPr/>
          <p:nvPr/>
        </p:nvPicPr>
        <p:blipFill>
          <a:blip r:embed="rId2"/>
          <a:stretch/>
        </p:blipFill>
        <p:spPr>
          <a:xfrm>
            <a:off x="6899760" y="1828800"/>
            <a:ext cx="4989240" cy="2800800"/>
          </a:xfrm>
          <a:prstGeom prst="rect">
            <a:avLst/>
          </a:prstGeom>
          <a:ln w="0">
            <a:noFill/>
          </a:ln>
        </p:spPr>
      </p:pic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0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178" name="Image 0" descr="/tmp/claude-1000/-home-cmoryah-proj-the-party/20f7a24e-b8f2-4fc7-8068-208b8ed78fb2/scratchpad/shots/ttl-pedido.png"/>
          <p:cNvPicPr/>
          <p:nvPr/>
        </p:nvPicPr>
        <p:blipFill>
          <a:blip r:embed="rId1"/>
          <a:stretch/>
        </p:blipFill>
        <p:spPr>
          <a:xfrm>
            <a:off x="640080" y="299160"/>
            <a:ext cx="1108800" cy="961560"/>
          </a:xfrm>
          <a:prstGeom prst="rect">
            <a:avLst/>
          </a:prstGeom>
          <a:ln w="0">
            <a:noFill/>
          </a:ln>
        </p:spPr>
      </p:pic>
      <p:sp>
        <p:nvSpPr>
          <p:cNvPr id="179" name="Shape 3"/>
          <p:cNvSpPr/>
          <p:nvPr/>
        </p:nvSpPr>
        <p:spPr>
          <a:xfrm>
            <a:off x="640080" y="1737360"/>
            <a:ext cx="3197160" cy="2831400"/>
          </a:xfrm>
          <a:prstGeom prst="roundRect">
            <a:avLst>
              <a:gd name="adj" fmla="val 645"/>
            </a:avLst>
          </a:prstGeom>
          <a:solidFill>
            <a:srgbClr val="8f0a04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0" name="Text 4"/>
          <p:cNvSpPr/>
          <p:nvPr/>
        </p:nvSpPr>
        <p:spPr>
          <a:xfrm>
            <a:off x="868680" y="2011680"/>
            <a:ext cx="273996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32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US$ 20.000</a:t>
            </a:r>
            <a:endParaRPr b="0" lang="pt-BR" sz="3200" spc="-1" strike="noStrike">
              <a:latin typeface="Arial"/>
            </a:endParaRPr>
          </a:p>
        </p:txBody>
      </p:sp>
      <p:sp>
        <p:nvSpPr>
          <p:cNvPr id="181" name="Text 5"/>
          <p:cNvSpPr/>
          <p:nvPr/>
        </p:nvSpPr>
        <p:spPr>
          <a:xfrm>
            <a:off x="868680" y="2788920"/>
            <a:ext cx="2739960" cy="728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ffd9d7"/>
                </a:solidFill>
                <a:latin typeface="Calibri"/>
                <a:ea typeface="Calibri"/>
              </a:rPr>
              <a:t>de adiantamento recuperável, liberado contra os marcos.</a:t>
            </a:r>
            <a:endParaRPr b="0" lang="pt-BR" sz="1300" spc="-1" strike="noStrike">
              <a:latin typeface="Arial"/>
            </a:endParaRPr>
          </a:p>
        </p:txBody>
      </p:sp>
      <p:sp>
        <p:nvSpPr>
          <p:cNvPr id="182" name="Text 6"/>
          <p:cNvSpPr/>
          <p:nvPr/>
        </p:nvSpPr>
        <p:spPr>
          <a:xfrm>
            <a:off x="868680" y="3611880"/>
            <a:ext cx="2739960" cy="819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2c9c7"/>
                </a:solidFill>
                <a:latin typeface="Calibri"/>
                <a:ea typeface="Calibri"/>
              </a:rPr>
              <a:t>70% estúdio / 30% publisher depois de recuperado.</a:t>
            </a:r>
            <a:endParaRPr b="0" lang="pt-BR" sz="1200" spc="-1" strike="noStrike">
              <a:latin typeface="Arial"/>
            </a:endParaRPr>
          </a:p>
          <a:p>
            <a:pPr algn="ctr"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f2c9c7"/>
                </a:solidFill>
                <a:latin typeface="Calibri"/>
                <a:ea typeface="Calibri"/>
              </a:rPr>
              <a:t>A propriedade intelectual continua nossa.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183" name="Shape 7"/>
          <p:cNvSpPr/>
          <p:nvPr/>
        </p:nvSpPr>
        <p:spPr>
          <a:xfrm>
            <a:off x="640080" y="4800600"/>
            <a:ext cx="3197160" cy="1551240"/>
          </a:xfrm>
          <a:prstGeom prst="roundRect">
            <a:avLst>
              <a:gd name="adj" fmla="val 1176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4" name="Text 8"/>
          <p:cNvSpPr/>
          <p:nvPr/>
        </p:nvSpPr>
        <p:spPr>
          <a:xfrm>
            <a:off x="914400" y="4983480"/>
            <a:ext cx="2648520" cy="3168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07818"/>
                </a:solidFill>
                <a:latin typeface="Bookman Old Style"/>
                <a:ea typeface="Bookman Old Style"/>
              </a:rPr>
              <a:t>Em troca</a:t>
            </a:r>
            <a:endParaRPr b="0" lang="pt-BR" sz="1600" spc="-1" strike="noStrike">
              <a:latin typeface="Arial"/>
            </a:endParaRPr>
          </a:p>
        </p:txBody>
      </p:sp>
      <p:sp>
        <p:nvSpPr>
          <p:cNvPr id="185" name="Text 9"/>
          <p:cNvSpPr/>
          <p:nvPr/>
        </p:nvSpPr>
        <p:spPr>
          <a:xfrm>
            <a:off x="914400" y="5349240"/>
            <a:ext cx="2648520" cy="8654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4f1ea"/>
                </a:solidFill>
                <a:latin typeface="Calibri"/>
                <a:ea typeface="Calibri"/>
              </a:rPr>
              <a:t>Publicação na Steam, marketing, assessoria de imprensa e acesso a festivais.</a:t>
            </a:r>
            <a:endParaRPr b="0" lang="pt-BR" sz="1250" spc="-1" strike="noStrike">
              <a:latin typeface="Arial"/>
            </a:endParaRPr>
          </a:p>
        </p:txBody>
      </p:sp>
      <p:sp>
        <p:nvSpPr>
          <p:cNvPr id="186" name="Shape 10"/>
          <p:cNvSpPr/>
          <p:nvPr/>
        </p:nvSpPr>
        <p:spPr>
          <a:xfrm>
            <a:off x="4160520" y="1737360"/>
            <a:ext cx="2297880" cy="1779840"/>
          </a:xfrm>
          <a:prstGeom prst="roundRect">
            <a:avLst>
              <a:gd name="adj" fmla="val 1026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87" name="Shape 11"/>
          <p:cNvSpPr/>
          <p:nvPr/>
        </p:nvSpPr>
        <p:spPr>
          <a:xfrm>
            <a:off x="4416480" y="1938600"/>
            <a:ext cx="189360" cy="307800"/>
          </a:xfrm>
          <a:prstGeom prst="roundRect">
            <a:avLst>
              <a:gd name="adj" fmla="val 1423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88" name="Shape 12"/>
          <p:cNvSpPr/>
          <p:nvPr/>
        </p:nvSpPr>
        <p:spPr>
          <a:xfrm>
            <a:off x="4555440" y="2094120"/>
            <a:ext cx="47160" cy="4716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89" name="Text 13"/>
          <p:cNvSpPr/>
          <p:nvPr/>
        </p:nvSpPr>
        <p:spPr>
          <a:xfrm>
            <a:off x="4416480" y="2340720"/>
            <a:ext cx="17859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Mais músicas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90" name="Text 14"/>
          <p:cNvSpPr/>
          <p:nvPr/>
        </p:nvSpPr>
        <p:spPr>
          <a:xfrm>
            <a:off x="4416480" y="2834640"/>
            <a:ext cx="17859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fa0b8"/>
                </a:solidFill>
                <a:latin typeface="Calibri"/>
                <a:ea typeface="Calibri"/>
              </a:rPr>
              <a:t>A Karina compondo a trilha inteira, e não só o tema.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191" name="Shape 15"/>
          <p:cNvSpPr/>
          <p:nvPr/>
        </p:nvSpPr>
        <p:spPr>
          <a:xfrm>
            <a:off x="6690240" y="1737360"/>
            <a:ext cx="2297880" cy="1779840"/>
          </a:xfrm>
          <a:prstGeom prst="roundRect">
            <a:avLst>
              <a:gd name="adj" fmla="val 1026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2" name="Shape 16"/>
          <p:cNvSpPr/>
          <p:nvPr/>
        </p:nvSpPr>
        <p:spPr>
          <a:xfrm>
            <a:off x="6946560" y="1938600"/>
            <a:ext cx="189360" cy="307800"/>
          </a:xfrm>
          <a:prstGeom prst="roundRect">
            <a:avLst>
              <a:gd name="adj" fmla="val 1423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3" name="Shape 17"/>
          <p:cNvSpPr/>
          <p:nvPr/>
        </p:nvSpPr>
        <p:spPr>
          <a:xfrm>
            <a:off x="7085160" y="2094120"/>
            <a:ext cx="47160" cy="4716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4" name="Text 18"/>
          <p:cNvSpPr/>
          <p:nvPr/>
        </p:nvSpPr>
        <p:spPr>
          <a:xfrm>
            <a:off x="6946560" y="2340720"/>
            <a:ext cx="17859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Mais festas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195" name="Text 19"/>
          <p:cNvSpPr/>
          <p:nvPr/>
        </p:nvSpPr>
        <p:spPr>
          <a:xfrm>
            <a:off x="6946560" y="2834640"/>
            <a:ext cx="17859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fa0b8"/>
                </a:solidFill>
                <a:latin typeface="Calibri"/>
                <a:ea typeface="Calibri"/>
              </a:rPr>
              <a:t>Para a noite não terminar sempre atrás do mesmo tipo de porta.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196" name="Shape 20"/>
          <p:cNvSpPr/>
          <p:nvPr/>
        </p:nvSpPr>
        <p:spPr>
          <a:xfrm>
            <a:off x="9220320" y="1737360"/>
            <a:ext cx="2297880" cy="1779840"/>
          </a:xfrm>
          <a:prstGeom prst="roundRect">
            <a:avLst>
              <a:gd name="adj" fmla="val 1026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197" name="Shape 21"/>
          <p:cNvSpPr/>
          <p:nvPr/>
        </p:nvSpPr>
        <p:spPr>
          <a:xfrm>
            <a:off x="9476280" y="1938600"/>
            <a:ext cx="189360" cy="307800"/>
          </a:xfrm>
          <a:prstGeom prst="roundRect">
            <a:avLst>
              <a:gd name="adj" fmla="val 1423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198" name="Shape 22"/>
          <p:cNvSpPr/>
          <p:nvPr/>
        </p:nvSpPr>
        <p:spPr>
          <a:xfrm>
            <a:off x="9614880" y="2094120"/>
            <a:ext cx="47160" cy="4716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199" name="Text 23"/>
          <p:cNvSpPr/>
          <p:nvPr/>
        </p:nvSpPr>
        <p:spPr>
          <a:xfrm>
            <a:off x="9476280" y="2340720"/>
            <a:ext cx="17859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Mais fantasias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00" name="Text 24"/>
          <p:cNvSpPr/>
          <p:nvPr/>
        </p:nvSpPr>
        <p:spPr>
          <a:xfrm>
            <a:off x="9476280" y="2834640"/>
            <a:ext cx="17859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fa0b8"/>
                </a:solidFill>
                <a:latin typeface="Calibri"/>
                <a:ea typeface="Calibri"/>
              </a:rPr>
              <a:t>Muda quem mente para você, e quanto doce você aguenta carregar.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201" name="Shape 25"/>
          <p:cNvSpPr/>
          <p:nvPr/>
        </p:nvSpPr>
        <p:spPr>
          <a:xfrm>
            <a:off x="4160520" y="3822120"/>
            <a:ext cx="2297880" cy="1779840"/>
          </a:xfrm>
          <a:prstGeom prst="roundRect">
            <a:avLst>
              <a:gd name="adj" fmla="val 1026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2" name="Shape 26"/>
          <p:cNvSpPr/>
          <p:nvPr/>
        </p:nvSpPr>
        <p:spPr>
          <a:xfrm>
            <a:off x="4416480" y="4023360"/>
            <a:ext cx="189360" cy="307800"/>
          </a:xfrm>
          <a:prstGeom prst="roundRect">
            <a:avLst>
              <a:gd name="adj" fmla="val 1423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3" name="Shape 27"/>
          <p:cNvSpPr/>
          <p:nvPr/>
        </p:nvSpPr>
        <p:spPr>
          <a:xfrm>
            <a:off x="4555440" y="4178880"/>
            <a:ext cx="47160" cy="4716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4" name="Text 28"/>
          <p:cNvSpPr/>
          <p:nvPr/>
        </p:nvSpPr>
        <p:spPr>
          <a:xfrm>
            <a:off x="4416480" y="4425840"/>
            <a:ext cx="17859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Os doces, fechados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05" name="Text 29"/>
          <p:cNvSpPr/>
          <p:nvPr/>
        </p:nvSpPr>
        <p:spPr>
          <a:xfrm>
            <a:off x="4416480" y="4919400"/>
            <a:ext cx="17859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fa0b8"/>
                </a:solidFill>
                <a:latin typeface="Calibri"/>
                <a:ea typeface="Calibri"/>
              </a:rPr>
              <a:t>A economia de doce de ponta a ponta.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206" name="Shape 30"/>
          <p:cNvSpPr/>
          <p:nvPr/>
        </p:nvSpPr>
        <p:spPr>
          <a:xfrm>
            <a:off x="6690240" y="3822120"/>
            <a:ext cx="2297880" cy="1779840"/>
          </a:xfrm>
          <a:prstGeom prst="roundRect">
            <a:avLst>
              <a:gd name="adj" fmla="val 1026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07" name="Shape 31"/>
          <p:cNvSpPr/>
          <p:nvPr/>
        </p:nvSpPr>
        <p:spPr>
          <a:xfrm>
            <a:off x="6946560" y="4023360"/>
            <a:ext cx="189360" cy="307800"/>
          </a:xfrm>
          <a:prstGeom prst="roundRect">
            <a:avLst>
              <a:gd name="adj" fmla="val 1423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08" name="Shape 32"/>
          <p:cNvSpPr/>
          <p:nvPr/>
        </p:nvSpPr>
        <p:spPr>
          <a:xfrm>
            <a:off x="7085160" y="4178880"/>
            <a:ext cx="47160" cy="4716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09" name="Text 33"/>
          <p:cNvSpPr/>
          <p:nvPr/>
        </p:nvSpPr>
        <p:spPr>
          <a:xfrm>
            <a:off x="6946560" y="4425840"/>
            <a:ext cx="17859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Outros idiomas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10" name="Text 34"/>
          <p:cNvSpPr/>
          <p:nvPr/>
        </p:nvSpPr>
        <p:spPr>
          <a:xfrm>
            <a:off x="6946560" y="4919400"/>
            <a:ext cx="17859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fa0b8"/>
                </a:solidFill>
                <a:latin typeface="Calibri"/>
                <a:ea typeface="Calibri"/>
              </a:rPr>
              <a:t>Internacionalizar sai barato: o jogo tem pouco texto.</a:t>
            </a:r>
            <a:endParaRPr b="0" lang="pt-BR" sz="1050" spc="-1" strike="noStrike">
              <a:latin typeface="Arial"/>
            </a:endParaRPr>
          </a:p>
        </p:txBody>
      </p:sp>
      <p:sp>
        <p:nvSpPr>
          <p:cNvPr id="211" name="Shape 35"/>
          <p:cNvSpPr/>
          <p:nvPr/>
        </p:nvSpPr>
        <p:spPr>
          <a:xfrm>
            <a:off x="9220320" y="3822120"/>
            <a:ext cx="2297880" cy="1779840"/>
          </a:xfrm>
          <a:prstGeom prst="roundRect">
            <a:avLst>
              <a:gd name="adj" fmla="val 1026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12" name="Shape 36"/>
          <p:cNvSpPr/>
          <p:nvPr/>
        </p:nvSpPr>
        <p:spPr>
          <a:xfrm>
            <a:off x="9476280" y="4023360"/>
            <a:ext cx="189360" cy="307800"/>
          </a:xfrm>
          <a:prstGeom prst="roundRect">
            <a:avLst>
              <a:gd name="adj" fmla="val 14231"/>
            </a:avLst>
          </a:prstGeom>
          <a:solidFill>
            <a:srgbClr val="e10600"/>
          </a:solidFill>
          <a:ln w="12700">
            <a:solidFill>
              <a:srgbClr val="8f0a04"/>
            </a:solidFill>
            <a:round/>
          </a:ln>
        </p:spPr>
        <p:style>
          <a:lnRef idx="0"/>
          <a:fillRef idx="0"/>
          <a:effectRef idx="0"/>
          <a:fontRef idx="minor"/>
        </p:style>
      </p:sp>
      <p:sp>
        <p:nvSpPr>
          <p:cNvPr id="213" name="Shape 37"/>
          <p:cNvSpPr/>
          <p:nvPr/>
        </p:nvSpPr>
        <p:spPr>
          <a:xfrm>
            <a:off x="9614880" y="4178880"/>
            <a:ext cx="47160" cy="47160"/>
          </a:xfrm>
          <a:prstGeom prst="ellipse">
            <a:avLst/>
          </a:prstGeom>
          <a:solidFill>
            <a:srgbClr val="f5c518"/>
          </a:solidFill>
          <a:ln w="0">
            <a:noFill/>
          </a:ln>
        </p:spPr>
        <p:style>
          <a:lnRef idx="0"/>
          <a:fillRef idx="0"/>
          <a:effectRef idx="0"/>
          <a:fontRef idx="minor"/>
        </p:style>
      </p:sp>
      <p:sp>
        <p:nvSpPr>
          <p:cNvPr id="214" name="Text 38"/>
          <p:cNvSpPr/>
          <p:nvPr/>
        </p:nvSpPr>
        <p:spPr>
          <a:xfrm>
            <a:off x="9476280" y="4425840"/>
            <a:ext cx="1785960" cy="5454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0000"/>
              </a:lnSpc>
              <a:buNone/>
              <a:tabLst>
                <a:tab algn="l" pos="0"/>
              </a:tabLst>
            </a:pPr>
            <a:r>
              <a:rPr b="1" lang="en-US" sz="14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Ports</a:t>
            </a:r>
            <a:endParaRPr b="0" lang="pt-BR" sz="1400" spc="-1" strike="noStrike">
              <a:latin typeface="Arial"/>
            </a:endParaRPr>
          </a:p>
        </p:txBody>
      </p:sp>
      <p:sp>
        <p:nvSpPr>
          <p:cNvPr id="215" name="Text 39"/>
          <p:cNvSpPr/>
          <p:nvPr/>
        </p:nvSpPr>
        <p:spPr>
          <a:xfrm>
            <a:off x="9476280" y="4919400"/>
            <a:ext cx="1785960" cy="618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2000"/>
              </a:lnSpc>
              <a:buNone/>
              <a:tabLst>
                <a:tab algn="l" pos="0"/>
              </a:tabLst>
            </a:pPr>
            <a:r>
              <a:rPr b="0" lang="en-US" sz="1050" spc="-1" strike="noStrike">
                <a:solidFill>
                  <a:srgbClr val="9fa0b8"/>
                </a:solidFill>
                <a:latin typeface="Calibri"/>
                <a:ea typeface="Calibri"/>
              </a:rPr>
              <a:t>Steam, mobile</a:t>
            </a:r>
            <a:endParaRPr b="0" lang="pt-BR" sz="105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1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" name="Picture 1" descr="title-referencias.png"/>
          <p:cNvPicPr>
            <a:picLocks noChangeAspect="1"/>
          </p:cNvPicPr>
          <p:nvPr/>
        </p:nvPicPr>
        <p:blipFill>
          <a:blip r:embed="rId3"/>
          <a:stretch>
            <a:fillRect/>
          </a:stretch>
        </p:blipFill>
        <p:spPr>
          <a:xfrm>
            <a:off x="640080" y="402336"/>
            <a:ext cx="2783101" cy="566928"/>
          </a:xfrm>
          <a:prstGeom prst="rect">
            <a:avLst/>
          </a:prstGeom>
        </p:spPr>
      </p:pic>
      <p:sp>
        <p:nvSpPr>
          <p:cNvPr id="3" name="TextBox 2"/>
          <p:cNvSpPr txBox="1"/>
          <p:nvPr/>
        </p:nvSpPr>
        <p:spPr>
          <a:xfrm>
            <a:off x="658368" y="1152144"/>
            <a:ext cx="8229600" cy="27432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200" b="1">
                <a:solidFill>
                  <a:srgbClr val="E10600"/>
                </a:solidFill>
                <a:latin typeface="Calibri"/>
              </a:rPr>
              <a:t>PARTIDA CURTA NÃO É JOGO PEQUENO</a:t>
            </a:r>
          </a:p>
        </p:txBody>
      </p:sp>
      <p:sp>
        <p:nvSpPr>
          <p:cNvPr id="4" name="Rectangle 3"/>
          <p:cNvSpPr/>
          <p:nvPr/>
        </p:nvSpPr>
        <p:spPr>
          <a:xfrm>
            <a:off x="640080" y="1755648"/>
            <a:ext cx="3503066" cy="3529584"/>
          </a:xfrm>
          <a:prstGeom prst="rect">
            <a:avLst/>
          </a:prstGeom>
          <a:solidFill>
            <a:srgbClr val="1D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5" name="Rectangle 4"/>
          <p:cNvSpPr/>
          <p:nvPr/>
        </p:nvSpPr>
        <p:spPr>
          <a:xfrm>
            <a:off x="914400" y="2066543"/>
            <a:ext cx="164592" cy="2743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6" name="Rectangle 5"/>
          <p:cNvSpPr/>
          <p:nvPr/>
        </p:nvSpPr>
        <p:spPr>
          <a:xfrm>
            <a:off x="1033271" y="2203704"/>
            <a:ext cx="45720" cy="4572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7" name="TextBox 6"/>
          <p:cNvSpPr txBox="1"/>
          <p:nvPr/>
        </p:nvSpPr>
        <p:spPr>
          <a:xfrm>
            <a:off x="1207007" y="2029967"/>
            <a:ext cx="266181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4F1EA"/>
                </a:solidFill>
                <a:latin typeface="Bookman Old Style"/>
              </a:rPr>
              <a:t>Among Us</a:t>
            </a:r>
          </a:p>
        </p:txBody>
      </p:sp>
      <p:sp>
        <p:nvSpPr>
          <p:cNvPr id="8" name="TextBox 7"/>
          <p:cNvSpPr txBox="1"/>
          <p:nvPr/>
        </p:nvSpPr>
        <p:spPr>
          <a:xfrm>
            <a:off x="914400" y="2523744"/>
            <a:ext cx="29544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9FA0B8"/>
                </a:solidFill>
                <a:latin typeface="Calibri"/>
              </a:rPr>
              <a:t>2018  ·  Innersloth  ·  3 pessoas</a:t>
            </a:r>
          </a:p>
        </p:txBody>
      </p:sp>
      <p:sp>
        <p:nvSpPr>
          <p:cNvPr id="9" name="TextBox 8"/>
          <p:cNvSpPr txBox="1"/>
          <p:nvPr/>
        </p:nvSpPr>
        <p:spPr>
          <a:xfrm>
            <a:off x="914400" y="2889504"/>
            <a:ext cx="295442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10600"/>
                </a:solidFill>
                <a:latin typeface="Bookman Old Style"/>
              </a:rPr>
              <a:t>~10 min</a:t>
            </a:r>
          </a:p>
        </p:txBody>
      </p:sp>
      <p:sp>
        <p:nvSpPr>
          <p:cNvPr id="10" name="TextBox 9"/>
          <p:cNvSpPr txBox="1"/>
          <p:nvPr/>
        </p:nvSpPr>
        <p:spPr>
          <a:xfrm>
            <a:off x="914400" y="3456432"/>
            <a:ext cx="29544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>
                <a:solidFill>
                  <a:srgbClr val="9FA0B8"/>
                </a:solidFill>
                <a:latin typeface="Calibri"/>
              </a:rPr>
              <a:t>por rodada</a:t>
            </a:r>
          </a:p>
        </p:txBody>
      </p:sp>
      <p:sp>
        <p:nvSpPr>
          <p:cNvPr id="11" name="TextBox 10"/>
          <p:cNvSpPr txBox="1"/>
          <p:nvPr/>
        </p:nvSpPr>
        <p:spPr>
          <a:xfrm>
            <a:off x="914400" y="3895344"/>
            <a:ext cx="295442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0">
                <a:solidFill>
                  <a:srgbClr val="F4F1EA"/>
                </a:solidFill>
                <a:latin typeface="Calibri"/>
              </a:rPr>
              <a:t>Mentir é a mecânica, não o tema. Metade da mesa inventa, e o impostor soa igual a todo mundo. É o nosso problema — só que o nosso é com a cidade inteira, e sozinho.</a:t>
            </a:r>
          </a:p>
        </p:txBody>
      </p:sp>
      <p:sp>
        <p:nvSpPr>
          <p:cNvPr id="12" name="Rectangle 11"/>
          <p:cNvSpPr/>
          <p:nvPr/>
        </p:nvSpPr>
        <p:spPr>
          <a:xfrm>
            <a:off x="4344314" y="1755648"/>
            <a:ext cx="3503066" cy="3529584"/>
          </a:xfrm>
          <a:prstGeom prst="rect">
            <a:avLst/>
          </a:prstGeom>
          <a:solidFill>
            <a:srgbClr val="1D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3" name="Rectangle 12"/>
          <p:cNvSpPr/>
          <p:nvPr/>
        </p:nvSpPr>
        <p:spPr>
          <a:xfrm>
            <a:off x="4618634" y="2066543"/>
            <a:ext cx="164592" cy="2743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4" name="Rectangle 13"/>
          <p:cNvSpPr/>
          <p:nvPr/>
        </p:nvSpPr>
        <p:spPr>
          <a:xfrm>
            <a:off x="4737506" y="2203704"/>
            <a:ext cx="45720" cy="4572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15" name="TextBox 14"/>
          <p:cNvSpPr txBox="1"/>
          <p:nvPr/>
        </p:nvSpPr>
        <p:spPr>
          <a:xfrm>
            <a:off x="4911242" y="2029967"/>
            <a:ext cx="266181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4F1EA"/>
                </a:solidFill>
                <a:latin typeface="Bookman Old Style"/>
              </a:rPr>
              <a:t>Minit</a:t>
            </a:r>
          </a:p>
        </p:txBody>
      </p:sp>
      <p:sp>
        <p:nvSpPr>
          <p:cNvPr id="16" name="TextBox 15"/>
          <p:cNvSpPr txBox="1"/>
          <p:nvPr/>
        </p:nvSpPr>
        <p:spPr>
          <a:xfrm>
            <a:off x="4618634" y="2523744"/>
            <a:ext cx="29544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9FA0B8"/>
                </a:solidFill>
                <a:latin typeface="Calibri"/>
              </a:rPr>
              <a:t>2018  ·  Devolver  ·  4 pessoas</a:t>
            </a:r>
          </a:p>
        </p:txBody>
      </p:sp>
      <p:sp>
        <p:nvSpPr>
          <p:cNvPr id="17" name="TextBox 16"/>
          <p:cNvSpPr txBox="1"/>
          <p:nvPr/>
        </p:nvSpPr>
        <p:spPr>
          <a:xfrm>
            <a:off x="4618634" y="2889504"/>
            <a:ext cx="295442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10600"/>
                </a:solidFill>
                <a:latin typeface="Bookman Old Style"/>
              </a:rPr>
              <a:t>60 seg</a:t>
            </a:r>
          </a:p>
        </p:txBody>
      </p:sp>
      <p:sp>
        <p:nvSpPr>
          <p:cNvPr id="18" name="TextBox 17"/>
          <p:cNvSpPr txBox="1"/>
          <p:nvPr/>
        </p:nvSpPr>
        <p:spPr>
          <a:xfrm>
            <a:off x="4618634" y="3456432"/>
            <a:ext cx="29544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>
                <a:solidFill>
                  <a:srgbClr val="9FA0B8"/>
                </a:solidFill>
                <a:latin typeface="Calibri"/>
              </a:rPr>
              <a:t>e você morre, de novo</a:t>
            </a:r>
          </a:p>
        </p:txBody>
      </p:sp>
      <p:sp>
        <p:nvSpPr>
          <p:cNvPr id="19" name="TextBox 18"/>
          <p:cNvSpPr txBox="1"/>
          <p:nvPr/>
        </p:nvSpPr>
        <p:spPr>
          <a:xfrm>
            <a:off x="4618634" y="3895344"/>
            <a:ext cx="295442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0">
                <a:solidFill>
                  <a:srgbClr val="F4F1EA"/>
                </a:solidFill>
                <a:latin typeface="Calibri"/>
              </a:rPr>
              <a:t>O jogo inteiro é um cronômetro. O mundo recomeça a cada vida, o que você aprendeu não. Quatro pessoas, preto e branco, e ninguém achou curto demais.</a:t>
            </a:r>
          </a:p>
        </p:txBody>
      </p:sp>
      <p:sp>
        <p:nvSpPr>
          <p:cNvPr id="20" name="Rectangle 19"/>
          <p:cNvSpPr/>
          <p:nvPr/>
        </p:nvSpPr>
        <p:spPr>
          <a:xfrm>
            <a:off x="8048548" y="1755648"/>
            <a:ext cx="3503066" cy="3529584"/>
          </a:xfrm>
          <a:prstGeom prst="rect">
            <a:avLst/>
          </a:prstGeom>
          <a:solidFill>
            <a:srgbClr val="1D1F3C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1" name="Rectangle 20"/>
          <p:cNvSpPr/>
          <p:nvPr/>
        </p:nvSpPr>
        <p:spPr>
          <a:xfrm>
            <a:off x="8322868" y="2066543"/>
            <a:ext cx="164592" cy="274320"/>
          </a:xfrm>
          <a:prstGeom prst="rect">
            <a:avLst/>
          </a:prstGeom>
          <a:solidFill>
            <a:srgbClr val="E10600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2" name="Rectangle 21"/>
          <p:cNvSpPr/>
          <p:nvPr/>
        </p:nvSpPr>
        <p:spPr>
          <a:xfrm>
            <a:off x="8441740" y="2203704"/>
            <a:ext cx="45720" cy="45720"/>
          </a:xfrm>
          <a:prstGeom prst="rect">
            <a:avLst/>
          </a:prstGeom>
          <a:solidFill>
            <a:srgbClr val="F5C518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3" name="TextBox 22"/>
          <p:cNvSpPr txBox="1"/>
          <p:nvPr/>
        </p:nvSpPr>
        <p:spPr>
          <a:xfrm>
            <a:off x="8615476" y="2029967"/>
            <a:ext cx="2661818" cy="384048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600" b="1">
                <a:solidFill>
                  <a:srgbClr val="F4F1EA"/>
                </a:solidFill>
                <a:latin typeface="Bookman Old Style"/>
              </a:rPr>
              <a:t>Lethal Company</a:t>
            </a:r>
          </a:p>
        </p:txBody>
      </p:sp>
      <p:sp>
        <p:nvSpPr>
          <p:cNvPr id="24" name="TextBox 23"/>
          <p:cNvSpPr txBox="1"/>
          <p:nvPr/>
        </p:nvSpPr>
        <p:spPr>
          <a:xfrm>
            <a:off x="8322868" y="2523744"/>
            <a:ext cx="2954426" cy="23774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00" b="0">
                <a:solidFill>
                  <a:srgbClr val="9FA0B8"/>
                </a:solidFill>
                <a:latin typeface="Calibri"/>
              </a:rPr>
              <a:t>2023  ·  Zeekerss  ·  1 pessoa</a:t>
            </a:r>
          </a:p>
        </p:txBody>
      </p:sp>
      <p:sp>
        <p:nvSpPr>
          <p:cNvPr id="25" name="TextBox 24"/>
          <p:cNvSpPr txBox="1"/>
          <p:nvPr/>
        </p:nvSpPr>
        <p:spPr>
          <a:xfrm>
            <a:off x="8322868" y="2889504"/>
            <a:ext cx="2954426" cy="512064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3000" b="1">
                <a:solidFill>
                  <a:srgbClr val="E10600"/>
                </a:solidFill>
                <a:latin typeface="Bookman Old Style"/>
              </a:rPr>
              <a:t>~15 min</a:t>
            </a:r>
          </a:p>
        </p:txBody>
      </p:sp>
      <p:sp>
        <p:nvSpPr>
          <p:cNvPr id="26" name="TextBox 25"/>
          <p:cNvSpPr txBox="1"/>
          <p:nvPr/>
        </p:nvSpPr>
        <p:spPr>
          <a:xfrm>
            <a:off x="8322868" y="3456432"/>
            <a:ext cx="2954426" cy="256032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r>
              <a:rPr sz="1050" b="0">
                <a:solidFill>
                  <a:srgbClr val="9FA0B8"/>
                </a:solidFill>
                <a:latin typeface="Calibri"/>
              </a:rPr>
              <a:t>por descida, com a cota correndo</a:t>
            </a:r>
          </a:p>
        </p:txBody>
      </p:sp>
      <p:sp>
        <p:nvSpPr>
          <p:cNvPr id="27" name="TextBox 26"/>
          <p:cNvSpPr txBox="1"/>
          <p:nvPr/>
        </p:nvSpPr>
        <p:spPr>
          <a:xfrm>
            <a:off x="8322868" y="3895344"/>
            <a:ext cx="2954426" cy="1463040"/>
          </a:xfrm>
          <a:prstGeom prst="rect">
            <a:avLst/>
          </a:prstGeom>
          <a:noFill/>
        </p:spPr>
        <p:txBody>
          <a:bodyPr wrap="square" anchor="t" lIns="0" rIns="0" tIns="0" bIns="0">
            <a:spAutoFit/>
          </a:bodyPr>
          <a:lstStyle/>
          <a:p>
            <a:pPr>
              <a:lnSpc>
                <a:spcPct val="122000"/>
              </a:lnSpc>
            </a:pPr>
            <a:r>
              <a:rPr sz="1100" b="0">
                <a:solidFill>
                  <a:srgbClr val="F4F1EA"/>
                </a:solidFill>
                <a:latin typeface="Calibri"/>
              </a:rPr>
              <a:t>Um prazo que não negocia e um lugar diferente a cada vez. Uma pessoa fez, e em semanas estava no topo da Steam. O relógio é o inimigo, igual ao nosso.</a:t>
            </a:r>
          </a:p>
        </p:txBody>
      </p:sp>
      <p:sp>
        <p:nvSpPr>
          <p:cNvPr id="28" name="Rectangle 27"/>
          <p:cNvSpPr/>
          <p:nvPr/>
        </p:nvSpPr>
        <p:spPr>
          <a:xfrm>
            <a:off x="640080" y="5705856"/>
            <a:ext cx="10911535" cy="603504"/>
          </a:xfrm>
          <a:prstGeom prst="rect">
            <a:avLst/>
          </a:prstGeom>
          <a:solidFill>
            <a:srgbClr val="8F0A04"/>
          </a:solidFill>
          <a:ln>
            <a:noFill/>
          </a:ln>
          <a:effectLst/>
        </p:spPr>
        <p:style>
          <a:lnRef idx="1">
            <a:schemeClr val="accent1"/>
          </a:lnRef>
          <a:fillRef idx="3">
            <a:schemeClr val="accent1"/>
          </a:fillRef>
          <a:effectRef idx="2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</a:p>
        </p:txBody>
      </p:sp>
      <p:sp>
        <p:nvSpPr>
          <p:cNvPr id="29" name="TextBox 28"/>
          <p:cNvSpPr txBox="1"/>
          <p:nvPr/>
        </p:nvSpPr>
        <p:spPr>
          <a:xfrm>
            <a:off x="950976" y="5705856"/>
            <a:ext cx="10289743" cy="603504"/>
          </a:xfrm>
          <a:prstGeom prst="rect">
            <a:avLst/>
          </a:prstGeom>
          <a:noFill/>
        </p:spPr>
        <p:txBody>
          <a:bodyPr wrap="square" anchor="ctr" lIns="0" rIns="0" tIns="0" bIns="0">
            <a:spAutoFit/>
          </a:bodyPr>
          <a:lstStyle/>
          <a:p>
            <a:r>
              <a:rPr sz="1400" b="1">
                <a:solidFill>
                  <a:srgbClr val="F4F1EA"/>
                </a:solidFill>
                <a:latin typeface="Bookman Old Style"/>
              </a:rPr>
              <a:t>THE PARTY  ·  6 minutos.</a:t>
            </a:r>
            <a:r>
              <a:rPr sz="1200" b="0">
                <a:solidFill>
                  <a:srgbClr val="FFD9D7"/>
                </a:solidFill>
                <a:latin typeface="Calibri"/>
              </a:rPr>
              <a:t>   Cinco pistas por noite, metade delas mentira, e uma porta certa entre centenas.</a:t>
            </a: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2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12132a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28" name="Image 0" descr="/tmp/claude-1000/-home-cmoryah-proj-the-party/20f7a24e-b8f2-4fc7-8068-208b8ed78fb2/scratchpad/shots/ttl-still.png"/>
          <p:cNvPicPr/>
          <p:nvPr/>
        </p:nvPicPr>
        <p:blipFill>
          <a:blip r:embed="rId1"/>
          <a:stretch/>
        </p:blipFill>
        <p:spPr>
          <a:xfrm>
            <a:off x="640080" y="295920"/>
            <a:ext cx="2161440" cy="967680"/>
          </a:xfrm>
          <a:prstGeom prst="rect">
            <a:avLst/>
          </a:prstGeom>
          <a:ln w="0">
            <a:noFill/>
          </a:ln>
        </p:spPr>
      </p:pic>
      <p:sp>
        <p:nvSpPr>
          <p:cNvPr id="229" name="Text 2"/>
          <p:cNvSpPr/>
          <p:nvPr/>
        </p:nvSpPr>
        <p:spPr>
          <a:xfrm>
            <a:off x="1170360" y="1261800"/>
            <a:ext cx="1034748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80" strike="noStrike">
                <a:solidFill>
                  <a:srgbClr val="e10600"/>
                </a:solidFill>
                <a:latin typeface="Calibri"/>
                <a:ea typeface="Calibri"/>
              </a:rPr>
              <a:t>GMTK GAME JAM </a:t>
            </a:r>
            <a:endParaRPr b="0" lang="pt-BR" sz="1200" spc="-1" strike="noStrike">
              <a:latin typeface="Arial"/>
            </a:endParaRPr>
          </a:p>
        </p:txBody>
      </p:sp>
      <p:pic>
        <p:nvPicPr>
          <p:cNvPr id="230" name="Image 1" descr="/tmp/claude-1000/-home-cmoryah-proj-the-party/20f7a24e-b8f2-4fc7-8068-208b8ed78fb2/scratchpad/shots/sl-shot.jpg"/>
          <p:cNvPicPr/>
          <p:nvPr/>
        </p:nvPicPr>
        <p:blipFill>
          <a:blip r:embed="rId2"/>
          <a:stretch/>
        </p:blipFill>
        <p:spPr>
          <a:xfrm>
            <a:off x="640080" y="1783080"/>
            <a:ext cx="2876760" cy="2282400"/>
          </a:xfrm>
          <a:prstGeom prst="rect">
            <a:avLst/>
          </a:prstGeom>
          <a:ln w="0">
            <a:noFill/>
          </a:ln>
        </p:spPr>
      </p:pic>
      <p:pic>
        <p:nvPicPr>
          <p:cNvPr id="231" name="Image 2" descr="/tmp/claude-1000/-home-cmoryah-proj-the-party/20f7a24e-b8f2-4fc7-8068-208b8ed78fb2/scratchpad/shots/sl-play.png"/>
          <p:cNvPicPr/>
          <p:nvPr/>
        </p:nvPicPr>
        <p:blipFill>
          <a:blip r:embed="rId3"/>
          <a:stretch/>
        </p:blipFill>
        <p:spPr>
          <a:xfrm>
            <a:off x="3703320" y="1783080"/>
            <a:ext cx="4431240" cy="2273400"/>
          </a:xfrm>
          <a:prstGeom prst="rect">
            <a:avLst/>
          </a:prstGeom>
          <a:ln w="0">
            <a:noFill/>
          </a:ln>
        </p:spPr>
      </p:pic>
      <p:sp>
        <p:nvSpPr>
          <p:cNvPr id="232" name="Text 3"/>
          <p:cNvSpPr/>
          <p:nvPr/>
        </p:nvSpPr>
        <p:spPr>
          <a:xfrm>
            <a:off x="640080" y="4160520"/>
            <a:ext cx="749448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fa0b8"/>
                </a:solidFill>
                <a:latin typeface="Calibri"/>
                <a:ea typeface="Calibri"/>
              </a:rPr>
              <a:t>A capa e o jogo rodando.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33" name="Shape 4"/>
          <p:cNvSpPr/>
          <p:nvPr/>
        </p:nvSpPr>
        <p:spPr>
          <a:xfrm>
            <a:off x="8412480" y="1783080"/>
            <a:ext cx="3105360" cy="4202640"/>
          </a:xfrm>
          <a:prstGeom prst="roundRect">
            <a:avLst>
              <a:gd name="adj" fmla="val 588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34" name="Text 5"/>
          <p:cNvSpPr/>
          <p:nvPr/>
        </p:nvSpPr>
        <p:spPr>
          <a:xfrm>
            <a:off x="8732520" y="2011680"/>
            <a:ext cx="2511000" cy="6822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07818"/>
                </a:solidFill>
                <a:latin typeface="Bookman Old Style"/>
                <a:ea typeface="Bookman Old Style"/>
              </a:rPr>
              <a:t>Um shoot ’em up de avião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35" name="Text 6"/>
          <p:cNvSpPr/>
          <p:nvPr/>
        </p:nvSpPr>
        <p:spPr>
          <a:xfrm>
            <a:off x="8732520" y="2880360"/>
            <a:ext cx="2511000" cy="29224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4f1ea"/>
                </a:solidFill>
                <a:latin typeface="Calibri"/>
                <a:ea typeface="Calibri"/>
              </a:rPr>
              <a:t>Você pilota uma maçã sobre uma natureza-morta que apodrece enquanto você voa. Ou impede o apodrecimento, ou para o tempo.</a:t>
            </a:r>
            <a:endParaRPr b="0" lang="pt-BR" sz="1250" spc="-1" strike="noStrike">
              <a:latin typeface="Arial"/>
            </a:endParaRPr>
          </a:p>
          <a:p>
            <a:pPr>
              <a:lnSpc>
                <a:spcPct val="120000"/>
              </a:lnSpc>
              <a:spcAft>
                <a:spcPts val="799"/>
              </a:spcAft>
              <a:buNone/>
              <a:tabLst>
                <a:tab algn="l" pos="0"/>
              </a:tabLst>
            </a:pPr>
            <a:endParaRPr b="0" lang="pt-BR" sz="1250" spc="-1" strike="noStrike">
              <a:latin typeface="Arial"/>
            </a:endParaRPr>
          </a:p>
          <a:p>
            <a:pPr>
              <a:lnSpc>
                <a:spcPct val="120000"/>
              </a:lnSpc>
              <a:spcAft>
                <a:spcPts val="799"/>
              </a:spcAft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4f1ea"/>
                </a:solidFill>
                <a:latin typeface="Calibri"/>
                <a:ea typeface="Calibri"/>
              </a:rPr>
              <a:t>Chefes difíceis, no espírito de Cuphead.</a:t>
            </a:r>
            <a:endParaRPr b="0" lang="pt-BR" sz="1250" spc="-1" strike="noStrike">
              <a:latin typeface="Arial"/>
            </a:endParaRPr>
          </a:p>
          <a:p>
            <a:pPr>
              <a:lnSpc>
                <a:spcPct val="120000"/>
              </a:lnSpc>
              <a:spcAft>
                <a:spcPts val="799"/>
              </a:spcAft>
              <a:buNone/>
              <a:tabLst>
                <a:tab algn="l" pos="0"/>
              </a:tabLst>
            </a:pPr>
            <a:endParaRPr b="0" lang="pt-BR" sz="1250" spc="-1" strike="noStrike">
              <a:latin typeface="Arial"/>
            </a:endParaRPr>
          </a:p>
        </p:txBody>
      </p:sp>
      <p:sp>
        <p:nvSpPr>
          <p:cNvPr id="236" name="Text 7"/>
          <p:cNvSpPr/>
          <p:nvPr/>
        </p:nvSpPr>
        <p:spPr>
          <a:xfrm>
            <a:off x="640080" y="4892040"/>
            <a:ext cx="74944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Itch.io/still-life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3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37" name="Image 0" descr="/tmp/claude-1000/-home-cmoryah-proj-the-party/20f7a24e-b8f2-4fc7-8068-208b8ed78fb2/scratchpad/shots/ttl-batidao.png"/>
          <p:cNvPicPr/>
          <p:nvPr/>
        </p:nvPicPr>
        <p:blipFill>
          <a:blip r:embed="rId1"/>
          <a:stretch/>
        </p:blipFill>
        <p:spPr>
          <a:xfrm>
            <a:off x="640080" y="294480"/>
            <a:ext cx="3190680" cy="970920"/>
          </a:xfrm>
          <a:prstGeom prst="rect">
            <a:avLst/>
          </a:prstGeom>
          <a:ln w="0">
            <a:noFill/>
          </a:ln>
        </p:spPr>
      </p:pic>
      <p:sp>
        <p:nvSpPr>
          <p:cNvPr id="238" name="Text 2"/>
          <p:cNvSpPr/>
          <p:nvPr/>
        </p:nvSpPr>
        <p:spPr>
          <a:xfrm>
            <a:off x="1170360" y="1261800"/>
            <a:ext cx="1034748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200" spc="180" strike="noStrike">
                <a:solidFill>
                  <a:srgbClr val="e10600"/>
                </a:solidFill>
                <a:latin typeface="Calibri"/>
                <a:ea typeface="Calibri"/>
              </a:rPr>
              <a:t>GAME JAM PRAIA GAMES 2026</a:t>
            </a:r>
            <a:endParaRPr b="0" lang="pt-BR" sz="1200" spc="-1" strike="noStrike">
              <a:latin typeface="Arial"/>
            </a:endParaRPr>
          </a:p>
        </p:txBody>
      </p:sp>
      <p:pic>
        <p:nvPicPr>
          <p:cNvPr id="239" name="Image 1" descr="/tmp/claude-1000/-home-cmoryah-proj-the-party/20f7a24e-b8f2-4fc7-8068-208b8ed78fb2/scratchpad/shots/bd-play.jpg"/>
          <p:cNvPicPr/>
          <p:nvPr/>
        </p:nvPicPr>
        <p:blipFill>
          <a:blip r:embed="rId2"/>
          <a:stretch/>
        </p:blipFill>
        <p:spPr>
          <a:xfrm>
            <a:off x="640080" y="1783080"/>
            <a:ext cx="6945840" cy="3818520"/>
          </a:xfrm>
          <a:prstGeom prst="rect">
            <a:avLst/>
          </a:prstGeom>
          <a:ln w="0">
            <a:noFill/>
          </a:ln>
        </p:spPr>
      </p:pic>
      <p:sp>
        <p:nvSpPr>
          <p:cNvPr id="240" name="Text 3"/>
          <p:cNvSpPr/>
          <p:nvPr/>
        </p:nvSpPr>
        <p:spPr>
          <a:xfrm>
            <a:off x="640080" y="5715000"/>
            <a:ext cx="694584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0" i="1" lang="en-US" sz="1100" spc="-1" strike="noStrike">
                <a:solidFill>
                  <a:srgbClr val="9fa0b8"/>
                </a:solidFill>
                <a:latin typeface="Calibri"/>
                <a:ea typeface="Calibri"/>
              </a:rPr>
              <a:t>Baratas desenhadas à mão brigando em cima de lixo filmado.</a:t>
            </a:r>
            <a:endParaRPr b="0" lang="pt-BR" sz="1100" spc="-1" strike="noStrike">
              <a:latin typeface="Arial"/>
            </a:endParaRPr>
          </a:p>
        </p:txBody>
      </p:sp>
      <p:sp>
        <p:nvSpPr>
          <p:cNvPr id="241" name="Shape 4"/>
          <p:cNvSpPr/>
          <p:nvPr/>
        </p:nvSpPr>
        <p:spPr>
          <a:xfrm>
            <a:off x="7818120" y="1783080"/>
            <a:ext cx="1733760" cy="1047960"/>
          </a:xfrm>
          <a:prstGeom prst="roundRect">
            <a:avLst>
              <a:gd name="adj" fmla="val 1739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2" name="Text 5"/>
          <p:cNvSpPr/>
          <p:nvPr/>
        </p:nvSpPr>
        <p:spPr>
          <a:xfrm>
            <a:off x="7818120" y="1874520"/>
            <a:ext cx="173376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10600"/>
                </a:solidFill>
                <a:latin typeface="Bookman Old Style"/>
                <a:ea typeface="Bookman Old Style"/>
              </a:rPr>
              <a:t>#5</a:t>
            </a:r>
            <a:endParaRPr b="0" lang="pt-BR" sz="2600" spc="-1" strike="noStrike">
              <a:latin typeface="Arial"/>
            </a:endParaRPr>
          </a:p>
        </p:txBody>
      </p:sp>
      <p:sp>
        <p:nvSpPr>
          <p:cNvPr id="243" name="Text 6"/>
          <p:cNvSpPr/>
          <p:nvPr/>
        </p:nvSpPr>
        <p:spPr>
          <a:xfrm>
            <a:off x="7818120" y="2395800"/>
            <a:ext cx="17337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fa0b8"/>
                </a:solidFill>
                <a:latin typeface="Calibri"/>
                <a:ea typeface="Calibri"/>
              </a:rPr>
              <a:t>geral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244" name="Shape 7"/>
          <p:cNvSpPr/>
          <p:nvPr/>
        </p:nvSpPr>
        <p:spPr>
          <a:xfrm>
            <a:off x="9738360" y="1783080"/>
            <a:ext cx="1733760" cy="1047960"/>
          </a:xfrm>
          <a:prstGeom prst="roundRect">
            <a:avLst>
              <a:gd name="adj" fmla="val 1739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5" name="Text 8"/>
          <p:cNvSpPr/>
          <p:nvPr/>
        </p:nvSpPr>
        <p:spPr>
          <a:xfrm>
            <a:off x="9738360" y="1874520"/>
            <a:ext cx="173376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10600"/>
                </a:solidFill>
                <a:latin typeface="Bookman Old Style"/>
                <a:ea typeface="Bookman Old Style"/>
              </a:rPr>
              <a:t>#2</a:t>
            </a:r>
            <a:endParaRPr b="0" lang="pt-BR" sz="2600" spc="-1" strike="noStrike">
              <a:latin typeface="Arial"/>
            </a:endParaRPr>
          </a:p>
        </p:txBody>
      </p:sp>
      <p:sp>
        <p:nvSpPr>
          <p:cNvPr id="246" name="Text 9"/>
          <p:cNvSpPr/>
          <p:nvPr/>
        </p:nvSpPr>
        <p:spPr>
          <a:xfrm>
            <a:off x="9738360" y="2395800"/>
            <a:ext cx="17337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fa0b8"/>
                </a:solidFill>
                <a:latin typeface="Calibri"/>
                <a:ea typeface="Calibri"/>
              </a:rPr>
              <a:t>inovação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247" name="Shape 10"/>
          <p:cNvSpPr/>
          <p:nvPr/>
        </p:nvSpPr>
        <p:spPr>
          <a:xfrm>
            <a:off x="7818120" y="2971800"/>
            <a:ext cx="1733760" cy="1047960"/>
          </a:xfrm>
          <a:prstGeom prst="roundRect">
            <a:avLst>
              <a:gd name="adj" fmla="val 1739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48" name="Text 11"/>
          <p:cNvSpPr/>
          <p:nvPr/>
        </p:nvSpPr>
        <p:spPr>
          <a:xfrm>
            <a:off x="7818120" y="3063240"/>
            <a:ext cx="173376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10600"/>
                </a:solidFill>
                <a:latin typeface="Bookman Old Style"/>
                <a:ea typeface="Bookman Old Style"/>
              </a:rPr>
              <a:t>#6</a:t>
            </a:r>
            <a:endParaRPr b="0" lang="pt-BR" sz="2600" spc="-1" strike="noStrike">
              <a:latin typeface="Arial"/>
            </a:endParaRPr>
          </a:p>
        </p:txBody>
      </p:sp>
      <p:sp>
        <p:nvSpPr>
          <p:cNvPr id="249" name="Text 12"/>
          <p:cNvSpPr/>
          <p:nvPr/>
        </p:nvSpPr>
        <p:spPr>
          <a:xfrm>
            <a:off x="7818120" y="3584520"/>
            <a:ext cx="17337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fa0b8"/>
                </a:solidFill>
                <a:latin typeface="Calibri"/>
                <a:ea typeface="Calibri"/>
              </a:rPr>
              <a:t>arte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250" name="Shape 13"/>
          <p:cNvSpPr/>
          <p:nvPr/>
        </p:nvSpPr>
        <p:spPr>
          <a:xfrm>
            <a:off x="9738360" y="2971800"/>
            <a:ext cx="1733760" cy="1047960"/>
          </a:xfrm>
          <a:prstGeom prst="roundRect">
            <a:avLst>
              <a:gd name="adj" fmla="val 1739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1" name="Text 14"/>
          <p:cNvSpPr/>
          <p:nvPr/>
        </p:nvSpPr>
        <p:spPr>
          <a:xfrm>
            <a:off x="9738360" y="3063240"/>
            <a:ext cx="1733760" cy="4993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e10600"/>
                </a:solidFill>
                <a:latin typeface="Bookman Old Style"/>
                <a:ea typeface="Bookman Old Style"/>
              </a:rPr>
              <a:t>36</a:t>
            </a:r>
            <a:endParaRPr b="0" lang="pt-BR" sz="2600" spc="-1" strike="noStrike">
              <a:latin typeface="Arial"/>
            </a:endParaRPr>
          </a:p>
        </p:txBody>
      </p:sp>
      <p:sp>
        <p:nvSpPr>
          <p:cNvPr id="252" name="Text 15"/>
          <p:cNvSpPr/>
          <p:nvPr/>
        </p:nvSpPr>
        <p:spPr>
          <a:xfrm>
            <a:off x="9738360" y="3584520"/>
            <a:ext cx="1733760" cy="27072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 algn="ctr">
              <a:lnSpc>
                <a:spcPct val="100000"/>
              </a:lnSpc>
              <a:buNone/>
              <a:tabLst>
                <a:tab algn="l" pos="0"/>
              </a:tabLst>
            </a:pPr>
            <a:r>
              <a:rPr b="0" lang="en-US" sz="1200" spc="-1" strike="noStrike">
                <a:solidFill>
                  <a:srgbClr val="9fa0b8"/>
                </a:solidFill>
                <a:latin typeface="Calibri"/>
                <a:ea typeface="Calibri"/>
              </a:rPr>
              <a:t>avaliações</a:t>
            </a:r>
            <a:endParaRPr b="0" lang="pt-BR" sz="1200" spc="-1" strike="noStrike">
              <a:latin typeface="Arial"/>
            </a:endParaRPr>
          </a:p>
        </p:txBody>
      </p:sp>
      <p:sp>
        <p:nvSpPr>
          <p:cNvPr id="253" name="Shape 16"/>
          <p:cNvSpPr/>
          <p:nvPr/>
        </p:nvSpPr>
        <p:spPr>
          <a:xfrm>
            <a:off x="7818120" y="4297680"/>
            <a:ext cx="3699720" cy="2099520"/>
          </a:xfrm>
          <a:prstGeom prst="roundRect">
            <a:avLst>
              <a:gd name="adj" fmla="val 870"/>
            </a:avLst>
          </a:prstGeom>
          <a:solidFill>
            <a:srgbClr val="1d1f3c"/>
          </a:solidFill>
          <a:ln w="0">
            <a:noFill/>
          </a:ln>
          <a:effectLst>
            <a:outerShdw algn="bl" blurRad="152280" dir="5400000" dist="38160" kx="0" ky="0" rotWithShape="0" sx="100000" sy="100000">
              <a:srgbClr val="000000">
                <a:alpha val="45000"/>
              </a:srgbClr>
            </a:outerShdw>
          </a:effectLst>
        </p:spPr>
        <p:style>
          <a:lnRef idx="0"/>
          <a:fillRef idx="0"/>
          <a:effectRef idx="0"/>
          <a:fontRef idx="minor"/>
        </p:style>
      </p:sp>
      <p:sp>
        <p:nvSpPr>
          <p:cNvPr id="254" name="Text 17"/>
          <p:cNvSpPr/>
          <p:nvPr/>
        </p:nvSpPr>
        <p:spPr>
          <a:xfrm>
            <a:off x="8138160" y="4498920"/>
            <a:ext cx="3059640" cy="3621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ctr">
            <a:noAutofit/>
          </a:bodyPr>
          <a:p>
            <a:pPr>
              <a:lnSpc>
                <a:spcPct val="100000"/>
              </a:lnSpc>
              <a:buNone/>
              <a:tabLst>
                <a:tab algn="l" pos="0"/>
              </a:tabLst>
            </a:pPr>
            <a:r>
              <a:rPr b="1" lang="en-US" sz="1800" spc="-1" strike="noStrike">
                <a:solidFill>
                  <a:srgbClr val="f07818"/>
                </a:solidFill>
                <a:latin typeface="Bookman Old Style"/>
                <a:ea typeface="Bookman Old Style"/>
              </a:rPr>
              <a:t>Feito em 10 dias</a:t>
            </a:r>
            <a:endParaRPr b="0" lang="pt-BR" sz="1800" spc="-1" strike="noStrike">
              <a:latin typeface="Arial"/>
            </a:endParaRPr>
          </a:p>
        </p:txBody>
      </p:sp>
      <p:sp>
        <p:nvSpPr>
          <p:cNvPr id="255" name="Text 18"/>
          <p:cNvSpPr/>
          <p:nvPr/>
        </p:nvSpPr>
        <p:spPr>
          <a:xfrm>
            <a:off x="8138160" y="4937760"/>
            <a:ext cx="3059640" cy="132228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lang="en-US" sz="1250" spc="-1" strike="noStrike">
                <a:solidFill>
                  <a:srgbClr val="f4f1ea"/>
                </a:solidFill>
                <a:latin typeface="Calibri"/>
                <a:ea typeface="Calibri"/>
              </a:rPr>
              <a:t>Beat ’em up nas ruas de um Brasil pós-apocalíptico. O que levou o segundo lugar em inovação foi a câmera, que captura o ambiente e o devolve dentro do jogo, conforme a partida anda.</a:t>
            </a:r>
            <a:endParaRPr b="0" lang="pt-BR" sz="1250" spc="-1" strike="noStrike">
              <a:latin typeface="Arial"/>
            </a:endParaRPr>
          </a:p>
        </p:txBody>
      </p:sp>
      <p:sp>
        <p:nvSpPr>
          <p:cNvPr id="256" name="Text 27"/>
          <p:cNvSpPr/>
          <p:nvPr/>
        </p:nvSpPr>
        <p:spPr>
          <a:xfrm>
            <a:off x="636840" y="6188040"/>
            <a:ext cx="7494480" cy="45360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15000"/>
              </a:lnSpc>
              <a:buNone/>
              <a:tabLst>
                <a:tab algn="l" pos="0"/>
              </a:tabLst>
            </a:pPr>
            <a:r>
              <a:rPr b="1" lang="en-US" sz="1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Itch.io/batidao-de-coco</a:t>
            </a:r>
            <a:endParaRPr b="0" lang="pt-BR" sz="16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slides/slide14.xml><?xml version="1.0" encoding="utf-8"?>
<p:sld xmlns:a="http://schemas.openxmlformats.org/drawingml/2006/main" xmlns:p="http://schemas.openxmlformats.org/presentationml/2006/main" xmlns:r="http://schemas.openxmlformats.org/officeDocument/2006/relationships" xmlns:p14="http://schemas.microsoft.com/office/powerpoint/2010/main" xmlns:p15="http://schemas.microsoft.com/office/powerpoint/2012/main" xmlns:mc="http://schemas.openxmlformats.org/markup-compatibility/2006">
  <p:cSld>
    <p:bg>
      <p:bgPr>
        <a:solidFill>
          <a:srgbClr val="07070f"/>
        </a:solidFill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pic>
        <p:nvPicPr>
          <p:cNvPr id="257" name="Image 0" descr="/tmp/claude-1000/-home-cmoryah-proj-the-party/20f7a24e-b8f2-4fc7-8068-208b8ed78fb2/scratchpad/shots/poster.jpg"/>
          <p:cNvPicPr/>
          <p:nvPr/>
        </p:nvPicPr>
        <p:blipFill>
          <a:blip r:embed="rId1"/>
          <a:stretch/>
        </p:blipFill>
        <p:spPr>
          <a:xfrm>
            <a:off x="777240" y="301680"/>
            <a:ext cx="5858640" cy="6260760"/>
          </a:xfrm>
          <a:prstGeom prst="rect">
            <a:avLst/>
          </a:prstGeom>
          <a:ln w="0">
            <a:noFill/>
          </a:ln>
        </p:spPr>
      </p:pic>
      <p:sp>
        <p:nvSpPr>
          <p:cNvPr id="258" name="Text 0"/>
          <p:cNvSpPr/>
          <p:nvPr/>
        </p:nvSpPr>
        <p:spPr>
          <a:xfrm>
            <a:off x="7589520" y="1737360"/>
            <a:ext cx="3929040" cy="237456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Pegue as dicas,</a:t>
            </a:r>
            <a:endParaRPr b="0" lang="pt-BR" sz="2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evite as crianças.</a:t>
            </a:r>
            <a:endParaRPr b="0" lang="pt-BR" sz="2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Encontre a festa,</a:t>
            </a:r>
            <a:endParaRPr b="0" lang="pt-BR" sz="2600" spc="-1" strike="noStrike">
              <a:latin typeface="Arial"/>
            </a:endParaRPr>
          </a:p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1" lang="en-US" sz="2600" spc="-1" strike="noStrike">
                <a:solidFill>
                  <a:srgbClr val="f4f1ea"/>
                </a:solidFill>
                <a:latin typeface="Bookman Old Style"/>
                <a:ea typeface="Bookman Old Style"/>
              </a:rPr>
              <a:t>se você sobreviver.</a:t>
            </a:r>
            <a:endParaRPr b="0" lang="pt-BR" sz="2600" spc="-1" strike="noStrike">
              <a:latin typeface="Arial"/>
            </a:endParaRPr>
          </a:p>
        </p:txBody>
      </p:sp>
      <p:sp>
        <p:nvSpPr>
          <p:cNvPr id="259" name="Text 1"/>
          <p:cNvSpPr/>
          <p:nvPr/>
        </p:nvSpPr>
        <p:spPr>
          <a:xfrm>
            <a:off x="7589520" y="4343400"/>
            <a:ext cx="39290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0000"/>
              </a:lnSpc>
              <a:buNone/>
              <a:tabLst>
                <a:tab algn="l" pos="0"/>
              </a:tabLst>
            </a:pPr>
            <a:r>
              <a:rPr b="0" i="1" lang="en-US" sz="1500" spc="-1" strike="noStrike">
                <a:solidFill>
                  <a:srgbClr val="e10600"/>
                </a:solidFill>
                <a:latin typeface="Calibri"/>
                <a:ea typeface="Calibri"/>
              </a:rPr>
              <a:t>Seis minutos. Centenas de portas. Uma festa.</a:t>
            </a:r>
            <a:endParaRPr b="0" lang="pt-BR" sz="1500" spc="-1" strike="noStrike">
              <a:latin typeface="Arial"/>
            </a:endParaRPr>
          </a:p>
        </p:txBody>
      </p:sp>
      <p:sp>
        <p:nvSpPr>
          <p:cNvPr id="260" name="Text 2"/>
          <p:cNvSpPr/>
          <p:nvPr/>
        </p:nvSpPr>
        <p:spPr>
          <a:xfrm>
            <a:off x="7589520" y="5394960"/>
            <a:ext cx="3929040" cy="728640"/>
          </a:xfrm>
          <a:prstGeom prst="rect">
            <a:avLst/>
          </a:prstGeom>
          <a:noFill/>
          <a:ln w="0">
            <a:noFill/>
          </a:ln>
        </p:spPr>
        <p:style>
          <a:lnRef idx="0"/>
          <a:fillRef idx="0"/>
          <a:effectRef idx="0"/>
          <a:fontRef idx="minor"/>
        </p:style>
        <p:txBody>
          <a:bodyPr lIns="0" rIns="0" tIns="0" bIns="0" anchor="t">
            <a:noAutofit/>
          </a:bodyPr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fa0b8"/>
                </a:solidFill>
                <a:latin typeface="Calibri"/>
                <a:ea typeface="Calibri"/>
              </a:rPr>
              <a:t>jogue em um clique:</a:t>
            </a:r>
            <a:endParaRPr b="0" lang="pt-BR" sz="1300" spc="-1" strike="noStrike">
              <a:latin typeface="Arial"/>
            </a:endParaRPr>
          </a:p>
          <a:p>
            <a:pPr>
              <a:lnSpc>
                <a:spcPct val="125000"/>
              </a:lnSpc>
              <a:buNone/>
              <a:tabLst>
                <a:tab algn="l" pos="0"/>
              </a:tabLst>
            </a:pPr>
            <a:r>
              <a:rPr b="0" lang="en-US" sz="1300" spc="-1" strike="noStrike">
                <a:solidFill>
                  <a:srgbClr val="9fa0b8"/>
                </a:solidFill>
                <a:latin typeface="Calibri"/>
                <a:ea typeface="Calibri"/>
              </a:rPr>
              <a:t>https://c-redfield.itch.io/the-party</a:t>
            </a:r>
            <a:endParaRPr b="0" lang="pt-BR" sz="1300" spc="-1" strike="noStrike">
              <a:latin typeface="Arial"/>
            </a:endParaRPr>
          </a:p>
        </p:txBody>
      </p:sp>
    </p:spTree>
  </p:cSld>
  <mc:AlternateContent>
    <mc:Choice Requires="p14">
      <p:transition spd="slow" p14:dur="2000"/>
    </mc:Choice>
    <mc:Fallback>
      <p:transition spd="slow"/>
    </mc:Fallback>
  </mc:AlternateContent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Arial"/>
        <a:ea typeface="DejaVu Sans"/>
        <a:cs typeface="DejaVu Sans"/>
      </a:majorFont>
      <a:minorFont>
        <a:latin typeface="Arial"/>
        <a:ea typeface="DejaVu Sans"/>
        <a:cs typeface="DejaVu Sans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shade val="51000"/>
                <a:satMod val="130000"/>
              </a:schemeClr>
            </a:gs>
            <a:gs pos="80000">
              <a:schemeClr val="phClr">
                <a:shade val="93000"/>
                <a:satMod val="130000"/>
              </a:schemeClr>
            </a:gs>
            <a:gs pos="100000">
              <a:schemeClr val="phClr">
                <a:shade val="94000"/>
                <a:satMod val="135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  <a:miter/>
        </a:ln>
        <a:ln w="25400" cap="flat" cmpd="sng" algn="ctr">
          <a:solidFill>
            <a:schemeClr val="phClr"/>
          </a:solidFill>
          <a:prstDash val="solid"/>
          <a:miter/>
        </a:ln>
        <a:ln w="38100" cap="flat" cmpd="sng" algn="ctr">
          <a:solidFill>
            <a:schemeClr val="phClr"/>
          </a:solidFill>
          <a:prstDash val="solid"/>
          <a:miter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</a:theme>
</file>

<file path=docProps/app.xml><?xml version="1.0" encoding="utf-8"?>
<Properties xmlns="http://schemas.openxmlformats.org/officeDocument/2006/extended-properties" xmlns:vt="http://schemas.openxmlformats.org/officeDocument/2006/docPropsVTypes">
  <Template/>
  <TotalTime>112</TotalTime>
  <Application>LibreOffice/7.3.7.2$Linux_X86_64 LibreOffice_project/30$Build-2</Application>
  <AppVersion>15.0000</AppVersion>
  <Words>0</Words>
  <Paragraphs>0</Paragraphs>
  <Company>PptxGenJS</Company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terms:created xsi:type="dcterms:W3CDTF">2026-09-28T17:00:22Z</dcterms:created>
  <dc:creator>Estúdio SABOROSA</dc:creator>
  <dc:description/>
  <dc:language>pt-BR</dc:language>
  <cp:lastModifiedBy/>
  <dcterms:modified xsi:type="dcterms:W3CDTF">2026-09-30T10:20:12Z</dcterms:modified>
  <cp:revision>63</cp:revision>
  <dc:subject>PptxGenJS Presentation</dc:subject>
  <dc:title>THE PARTY — pitch</dc:title>
</cp:coreProperties>
</file>

<file path=docProps/custom.xml><?xml version="1.0" encoding="utf-8"?>
<Properties xmlns="http://schemas.openxmlformats.org/officeDocument/2006/custom-properties" xmlns:vt="http://schemas.openxmlformats.org/officeDocument/2006/docPropsVTypes">
  <property fmtid="{D5CDD505-2E9C-101B-9397-08002B2CF9AE}" pid="2" name="Notes">
    <vt:i4>9</vt:i4>
  </property>
  <property fmtid="{D5CDD505-2E9C-101B-9397-08002B2CF9AE}" pid="3" name="PresentationFormat">
    <vt:lpwstr>On-screen Show (16:9)</vt:lpwstr>
  </property>
  <property fmtid="{D5CDD505-2E9C-101B-9397-08002B2CF9AE}" pid="4" name="Slides">
    <vt:i4>9</vt:i4>
  </property>
</Properties>
</file>